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Portada. Presenta't en una frase i passa a la diapositiva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Minut 0:00–1:30 · pas 1 de 3</a:t>
            </a:r>
          </a:p>
          <a:p/>
          <a:p>
            <a:r>
              <a:t>• Li vaig demanar a la IA material i una aplicació per a un alumne de 4t amb necessitats educatives. Això és el que va sortir.</a:t>
            </a:r>
          </a:p>
          <a:p>
            <a:r>
              <a:t>• Pregunta al públic: qui la faria servir demà a l'aula? Mans amunt.</a:t>
            </a:r>
          </a:p>
          <a:p>
            <a:r>
              <a:t>• No ho comentis encara. Deixa la pregunta oberta.</a:t>
            </a:r>
          </a:p>
          <a:p/>
          <a:p>
            <a:r>
              <a:t>Imatge o demostració:</a:t>
            </a:r>
          </a:p>
          <a:p>
            <a:r>
              <a:t>El menú de la web A, a pantalla completa.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Minut 0:00–1:30 · pas 2 de 3</a:t>
            </a:r>
          </a:p>
          <a:p/>
          <a:p>
            <a:r>
              <a:t>• Li vaig demanar a la IA material i una aplicació per a un alumne de 4t amb necessitats educatives. Això és el que va sortir.</a:t>
            </a:r>
          </a:p>
          <a:p>
            <a:r>
              <a:t>• Pregunta al públic: qui la faria servir demà a l'aula? Mans amunt.</a:t>
            </a:r>
          </a:p>
          <a:p>
            <a:r>
              <a:t>• No ho comentis encara. Deixa la pregunta oberta.</a:t>
            </a:r>
          </a:p>
          <a:p/>
          <a:p>
            <a:r>
              <a:t>Imatge o demostració:</a:t>
            </a:r>
          </a:p>
          <a:p>
            <a:r>
              <a:t>El menú de la web A, a pantalla completa.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Minut 0:00–1:30 · pas 3 de 3</a:t>
            </a:r>
          </a:p>
          <a:p/>
          <a:p>
            <a:r>
              <a:t>• Li vaig demanar a la IA material i una aplicació per a un alumne de 4t amb necessitats educatives. Això és el que va sortir.</a:t>
            </a:r>
          </a:p>
          <a:p>
            <a:r>
              <a:t>• Pregunta al públic: qui la faria servir demà a l'aula? Mans amunt.</a:t>
            </a:r>
          </a:p>
          <a:p>
            <a:r>
              <a:t>• No ho comentis encara. Deixa la pregunta oberta.</a:t>
            </a:r>
          </a:p>
          <a:p/>
          <a:p>
            <a:r>
              <a:t>Imatge o demostració:</a:t>
            </a:r>
          </a:p>
          <a:p>
            <a:r>
              <a:t>El menú de la web A, a pantalla completa.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Minut 1:30–2:30 · pas 1 de 2</a:t>
            </a:r>
          </a:p>
          <a:p/>
          <a:p>
            <a:r>
              <a:t>• La resposta és correcta: 100 € amb un 25 % de descompte són 75 €.</a:t>
            </a:r>
          </a:p>
          <a:p>
            <a:r>
              <a:t>• L'alumne prem el botó i no rep cap resposta. Ni «Correcte» ni «Incorrecte». Res.</a:t>
            </a:r>
          </a:p>
          <a:p>
            <a:r>
              <a:t>• Un alumne amb dificultats es bloqueja aquí.</a:t>
            </a:r>
          </a:p>
          <a:p>
            <a:r>
              <a:t>• Si la demostració falla, passa a la diapositiva següent: té la mateixa captura.</a:t>
            </a:r>
          </a:p>
          <a:p/>
          <a:p>
            <a:r>
              <a:t>Imatge o demostració:</a:t>
            </a:r>
          </a:p>
          <a:p>
            <a:r>
              <a:t>Cap. Demostració en directe:</a:t>
            </a:r>
          </a:p>
          <a:p>
            <a:r>
              <a:t>Fast-build-A/Fast-build-A-webapp.html</a:t>
            </a:r>
          </a:p>
          <a:p>
            <a:r>
              <a:t>1. Prem «Percentatges».</a:t>
            </a:r>
          </a:p>
          <a:p>
            <a:r>
              <a:t>2. A l'exercici 1, escriu 75.</a:t>
            </a:r>
          </a:p>
          <a:p>
            <a:r>
              <a:t>3. Prem «Comprovar».</a:t>
            </a:r>
          </a:p>
          <a:p>
            <a:r>
              <a:t>4. No passa 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Minut 1:30–2:30 · pas 2 de 2</a:t>
            </a:r>
          </a:p>
          <a:p/>
          <a:p>
            <a:r>
              <a:t>• La resposta és correcta: 100 € amb un 25 % de descompte són 75 €.</a:t>
            </a:r>
          </a:p>
          <a:p>
            <a:r>
              <a:t>• L'alumne prem el botó i no rep cap resposta. Ni «Correcte» ni «Incorrecte». Res.</a:t>
            </a:r>
          </a:p>
          <a:p>
            <a:r>
              <a:t>• Un alumne amb dificultats es bloqueja aquí.</a:t>
            </a:r>
          </a:p>
          <a:p>
            <a:r>
              <a:t>• Si la demostració falla, passa a la diapositiva següent: té la mateixa captura.</a:t>
            </a:r>
          </a:p>
          <a:p/>
          <a:p>
            <a:r>
              <a:t>Imatge o demostració:</a:t>
            </a:r>
          </a:p>
          <a:p>
            <a:r>
              <a:t>Cap. Demostració en directe:</a:t>
            </a:r>
          </a:p>
          <a:p>
            <a:r>
              <a:t>Fast-build-A/Fast-build-A-webapp.html</a:t>
            </a:r>
          </a:p>
          <a:p>
            <a:r>
              <a:t>1. Prem «Percentatges».</a:t>
            </a:r>
          </a:p>
          <a:p>
            <a:r>
              <a:t>2. A l'exercici 1, escriu 75.</a:t>
            </a:r>
          </a:p>
          <a:p>
            <a:r>
              <a:t>3. Prem «Comprovar».</a:t>
            </a:r>
          </a:p>
          <a:p>
            <a:r>
              <a:t>4. No passa 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Minut 2:30–3:45 · pas 1 de 10</a:t>
            </a:r>
          </a:p>
          <a:p/>
          <a:p>
            <a:r>
              <a:t>• És com l'alumne que entrega l'examen als 2 minuts. Ho ha fet tot. No ha revisat res.</a:t>
            </a:r>
          </a:p>
          <a:p>
            <a:r>
              <a:t>• La IA va dir: «He creat un paquet complet de recursos adaptats». Ho diu amb molta seguretat. Això no vol dir que sigui veritat.</a:t>
            </a:r>
          </a:p>
          <a:p/>
          <a:p>
            <a:r>
              <a:t>Imatge o demostració:</a:t>
            </a:r>
          </a:p>
          <a:p>
            <a:r>
              <a:t>Cada captura, a pantalla completa, després de la frase que explica.</a:t>
            </a:r>
          </a:p>
          <a:p>
            <a:r>
              <a:t>La de Percentatges: l'alumne ha escrit 75 i ha premut «Comprovar»,</a:t>
            </a:r>
          </a:p>
          <a:p>
            <a:r>
              <a:t>i no surt cap resposta; l'explicació ja era a la vista.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Minut 2:30–3:45 · pas 2 de 10</a:t>
            </a:r>
          </a:p>
          <a:p/>
          <a:p>
            <a:r>
              <a:t>• És com l'alumne que entrega l'examen als 2 minuts. Ho ha fet tot. No ha revisat res.</a:t>
            </a:r>
          </a:p>
          <a:p>
            <a:r>
              <a:t>• La IA va dir: «He creat un paquet complet de recursos adaptats». Ho diu amb molta seguretat. Això no vol dir que sigui veritat.</a:t>
            </a:r>
          </a:p>
          <a:p/>
          <a:p>
            <a:r>
              <a:t>Imatge o demostració:</a:t>
            </a:r>
          </a:p>
          <a:p>
            <a:r>
              <a:t>Cada captura, a pantalla completa, després de la frase que explica.</a:t>
            </a:r>
          </a:p>
          <a:p>
            <a:r>
              <a:t>La de Percentatges: l'alumne ha escrit 75 i ha premut «Comprovar»,</a:t>
            </a:r>
          </a:p>
          <a:p>
            <a:r>
              <a:t>i no surt cap resposta; l'explicació ja era a la vista.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Minut 2:30–3:45 · pas 3 de 10</a:t>
            </a:r>
          </a:p>
          <a:p/>
          <a:p>
            <a:r>
              <a:t>• És com l'alumne que entrega l'examen als 2 minuts. Ho ha fet tot. No ha revisat res.</a:t>
            </a:r>
          </a:p>
          <a:p>
            <a:r>
              <a:t>• La IA va dir: «He creat un paquet complet de recursos adaptats». Ho diu amb molta seguretat. Això no vol dir que sigui veritat.</a:t>
            </a:r>
          </a:p>
          <a:p/>
          <a:p>
            <a:r>
              <a:t>Imatge o demostració:</a:t>
            </a:r>
          </a:p>
          <a:p>
            <a:r>
              <a:t>Cada captura, a pantalla completa, després de la frase que explica.</a:t>
            </a:r>
          </a:p>
          <a:p>
            <a:r>
              <a:t>La de Percentatges: l'alumne ha escrit 75 i ha premut «Comprovar»,</a:t>
            </a:r>
          </a:p>
          <a:p>
            <a:r>
              <a:t>i no surt cap resposta; l'explicació ja era a la vista.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Minut 2:30–3:45 · pas 4 de 10</a:t>
            </a:r>
          </a:p>
          <a:p/>
          <a:p>
            <a:r>
              <a:t>• És com l'alumne que entrega l'examen als 2 minuts. Ho ha fet tot. No ha revisat res.</a:t>
            </a:r>
          </a:p>
          <a:p>
            <a:r>
              <a:t>• La IA va dir: «He creat un paquet complet de recursos adaptats». Ho diu amb molta seguretat. Això no vol dir que sigui veritat.</a:t>
            </a:r>
          </a:p>
          <a:p/>
          <a:p>
            <a:r>
              <a:t>Imatge o demostració:</a:t>
            </a:r>
          </a:p>
          <a:p>
            <a:r>
              <a:t>Cada captura, a pantalla completa, després de la frase que explica.</a:t>
            </a:r>
          </a:p>
          <a:p>
            <a:r>
              <a:t>La de Percentatges: l'alumne ha escrit 75 i ha premut «Comprovar»,</a:t>
            </a:r>
          </a:p>
          <a:p>
            <a:r>
              <a:t>i no surt cap resposta; l'explicació ja era a la vista.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Minut 2:30–3:45 · pas 5 de 10</a:t>
            </a:r>
          </a:p>
          <a:p/>
          <a:p>
            <a:r>
              <a:t>• És com l'alumne que entrega l'examen als 2 minuts. Ho ha fet tot. No ha revisat res.</a:t>
            </a:r>
          </a:p>
          <a:p>
            <a:r>
              <a:t>• La IA va dir: «He creat un paquet complet de recursos adaptats». Ho diu amb molta seguretat. Això no vol dir que sigui veritat.</a:t>
            </a:r>
          </a:p>
          <a:p/>
          <a:p>
            <a:r>
              <a:t>Imatge o demostració:</a:t>
            </a:r>
          </a:p>
          <a:p>
            <a:r>
              <a:t>Cada captura, a pantalla completa, després de la frase que explica.</a:t>
            </a:r>
          </a:p>
          <a:p>
            <a:r>
              <a:t>La de Percentatges: l'alumne ha escrit 75 i ha premut «Comprovar»,</a:t>
            </a:r>
          </a:p>
          <a:p>
            <a:r>
              <a:t>i no surt cap resposta; l'explicació ja era a la vista.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Minut 2:30–3:45 · pas 6 de 10</a:t>
            </a:r>
          </a:p>
          <a:p/>
          <a:p>
            <a:r>
              <a:t>• És com l'alumne que entrega l'examen als 2 minuts. Ho ha fet tot. No ha revisat res.</a:t>
            </a:r>
          </a:p>
          <a:p>
            <a:r>
              <a:t>• La IA va dir: «He creat un paquet complet de recursos adaptats». Ho diu amb molta seguretat. Això no vol dir que sigui veritat.</a:t>
            </a:r>
          </a:p>
          <a:p/>
          <a:p>
            <a:r>
              <a:t>Imatge o demostració:</a:t>
            </a:r>
          </a:p>
          <a:p>
            <a:r>
              <a:t>Cada captura, a pantalla completa, després de la frase que explica.</a:t>
            </a:r>
          </a:p>
          <a:p>
            <a:r>
              <a:t>La de Percentatges: l'alumne ha escrit 75 i ha premut «Comprovar»,</a:t>
            </a:r>
          </a:p>
          <a:p>
            <a:r>
              <a:t>i no surt cap resposta; l'explicació ja era a la vista.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Minut 2:30–3:45 · pas 7 de 10</a:t>
            </a:r>
          </a:p>
          <a:p/>
          <a:p>
            <a:r>
              <a:t>• És com l'alumne que entrega l'examen als 2 minuts. Ho ha fet tot. No ha revisat res.</a:t>
            </a:r>
          </a:p>
          <a:p>
            <a:r>
              <a:t>• La IA va dir: «He creat un paquet complet de recursos adaptats». Ho diu amb molta seguretat. Això no vol dir que sigui veritat.</a:t>
            </a:r>
          </a:p>
          <a:p/>
          <a:p>
            <a:r>
              <a:t>Imatge o demostració:</a:t>
            </a:r>
          </a:p>
          <a:p>
            <a:r>
              <a:t>Cada captura, a pantalla completa, després de la frase que explica.</a:t>
            </a:r>
          </a:p>
          <a:p>
            <a:r>
              <a:t>La de Percentatges: l'alumne ha escrit 75 i ha premut «Comprovar»,</a:t>
            </a:r>
          </a:p>
          <a:p>
            <a:r>
              <a:t>i no surt cap resposta; l'explicació ja era a la vista.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Minut 2:30–3:45 · pas 8 de 10</a:t>
            </a:r>
          </a:p>
          <a:p/>
          <a:p>
            <a:r>
              <a:t>• És com l'alumne que entrega l'examen als 2 minuts. Ho ha fet tot. No ha revisat res.</a:t>
            </a:r>
          </a:p>
          <a:p>
            <a:r>
              <a:t>• La IA va dir: «He creat un paquet complet de recursos adaptats». Ho diu amb molta seguretat. Això no vol dir que sigui veritat.</a:t>
            </a:r>
          </a:p>
          <a:p/>
          <a:p>
            <a:r>
              <a:t>Imatge o demostració:</a:t>
            </a:r>
          </a:p>
          <a:p>
            <a:r>
              <a:t>Cada captura, a pantalla completa, després de la frase que explica.</a:t>
            </a:r>
          </a:p>
          <a:p>
            <a:r>
              <a:t>La de Percentatges: l'alumne ha escrit 75 i ha premut «Comprovar»,</a:t>
            </a:r>
          </a:p>
          <a:p>
            <a:r>
              <a:t>i no surt cap resposta; l'explicació ja era a la vista.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Minut 2:30–3:45 · pas 9 de 10</a:t>
            </a:r>
          </a:p>
          <a:p/>
          <a:p>
            <a:r>
              <a:t>• És com l'alumne que entrega l'examen als 2 minuts. Ho ha fet tot. No ha revisat res.</a:t>
            </a:r>
          </a:p>
          <a:p>
            <a:r>
              <a:t>• La IA va dir: «He creat un paquet complet de recursos adaptats». Ho diu amb molta seguretat. Això no vol dir que sigui veritat.</a:t>
            </a:r>
          </a:p>
          <a:p/>
          <a:p>
            <a:r>
              <a:t>Imatge o demostració:</a:t>
            </a:r>
          </a:p>
          <a:p>
            <a:r>
              <a:t>Cada captura, a pantalla completa, després de la frase que explica.</a:t>
            </a:r>
          </a:p>
          <a:p>
            <a:r>
              <a:t>La de Percentatges: l'alumne ha escrit 75 i ha premut «Comprovar»,</a:t>
            </a:r>
          </a:p>
          <a:p>
            <a:r>
              <a:t>i no surt cap resposta; l'explicació ja era a la vista.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Minut 2:30–3:45 · pas 10 de 10</a:t>
            </a:r>
          </a:p>
          <a:p/>
          <a:p>
            <a:r>
              <a:t>• És com l'alumne que entrega l'examen als 2 minuts. Ho ha fet tot. No ha revisat res.</a:t>
            </a:r>
          </a:p>
          <a:p>
            <a:r>
              <a:t>• La IA va dir: «He creat un paquet complet de recursos adaptats». Ho diu amb molta seguretat. Això no vol dir que sigui veritat.</a:t>
            </a:r>
          </a:p>
          <a:p/>
          <a:p>
            <a:r>
              <a:t>Imatge o demostració:</a:t>
            </a:r>
          </a:p>
          <a:p>
            <a:r>
              <a:t>Cada captura, a pantalla completa, després de la frase que explica.</a:t>
            </a:r>
          </a:p>
          <a:p>
            <a:r>
              <a:t>La de Percentatges: l'alumne ha escrit 75 i ha premut «Comprovar»,</a:t>
            </a:r>
          </a:p>
          <a:p>
            <a:r>
              <a:t>i no surt cap resposta; l'explicació ja era a la vista.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Minut 3:45–4:45 · pas 1 de 6</a:t>
            </a:r>
          </a:p>
          <a:p/>
          <a:p>
            <a:r>
              <a:t>• Mateixa petició, però amb un model que s'hi pensa més.</a:t>
            </a:r>
          </a:p>
          <a:p>
            <a:r>
              <a:t>• A primera vista, és correcta. Molta gent la faria servir.</a:t>
            </a:r>
          </a:p>
          <a:p>
            <a:r>
              <a:t>• Però mirem-la amb ulls de docent.</a:t>
            </a:r>
          </a:p>
          <a:p/>
          <a:p>
            <a:r>
              <a:t>Imatge o demostració:</a:t>
            </a:r>
          </a:p>
          <a:p>
            <a:r>
              <a:t>El menú de la web B i la solució pas a pas després de dos errors.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Minut 3:45–4:45 · pas 2 de 6</a:t>
            </a:r>
          </a:p>
          <a:p/>
          <a:p>
            <a:r>
              <a:t>• Mateixa petició, però amb un model que s'hi pensa més.</a:t>
            </a:r>
          </a:p>
          <a:p>
            <a:r>
              <a:t>• A primera vista, és correcta. Molta gent la faria servir.</a:t>
            </a:r>
          </a:p>
          <a:p>
            <a:r>
              <a:t>• Però mirem-la amb ulls de docent.</a:t>
            </a:r>
          </a:p>
          <a:p/>
          <a:p>
            <a:r>
              <a:t>Imatge o demostració:</a:t>
            </a:r>
          </a:p>
          <a:p>
            <a:r>
              <a:t>El menú de la web B i la solució pas a pas després de dos errors.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Minut 3:45–4:45 · pas 3 de 6</a:t>
            </a:r>
          </a:p>
          <a:p/>
          <a:p>
            <a:r>
              <a:t>• Mateixa petició, però amb un model que s'hi pensa més.</a:t>
            </a:r>
          </a:p>
          <a:p>
            <a:r>
              <a:t>• A primera vista, és correcta. Molta gent la faria servir.</a:t>
            </a:r>
          </a:p>
          <a:p>
            <a:r>
              <a:t>• Però mirem-la amb ulls de docent.</a:t>
            </a:r>
          </a:p>
          <a:p/>
          <a:p>
            <a:r>
              <a:t>Imatge o demostració:</a:t>
            </a:r>
          </a:p>
          <a:p>
            <a:r>
              <a:t>El menú de la web B i la solució pas a pas després de dos errors.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Minut 3:45–4:45 · pas 4 de 6</a:t>
            </a:r>
          </a:p>
          <a:p/>
          <a:p>
            <a:r>
              <a:t>• Mateixa petició, però amb un model que s'hi pensa més.</a:t>
            </a:r>
          </a:p>
          <a:p>
            <a:r>
              <a:t>• A primera vista, és correcta. Molta gent la faria servir.</a:t>
            </a:r>
          </a:p>
          <a:p>
            <a:r>
              <a:t>• Però mirem-la amb ulls de docent.</a:t>
            </a:r>
          </a:p>
          <a:p/>
          <a:p>
            <a:r>
              <a:t>Imatge o demostració:</a:t>
            </a:r>
          </a:p>
          <a:p>
            <a:r>
              <a:t>El menú de la web B i la solució pas a pas després de dos errors.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Minut 3:45–4:45 · pas 5 de 6</a:t>
            </a:r>
          </a:p>
          <a:p/>
          <a:p>
            <a:r>
              <a:t>• Mateixa petició, però amb un model que s'hi pensa més.</a:t>
            </a:r>
          </a:p>
          <a:p>
            <a:r>
              <a:t>• A primera vista, és correcta. Molta gent la faria servir.</a:t>
            </a:r>
          </a:p>
          <a:p>
            <a:r>
              <a:t>• Però mirem-la amb ulls de docent.</a:t>
            </a:r>
          </a:p>
          <a:p/>
          <a:p>
            <a:r>
              <a:t>Imatge o demostració:</a:t>
            </a:r>
          </a:p>
          <a:p>
            <a:r>
              <a:t>El menú de la web B i la solució pas a pas després de dos errors.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Minut 3:45–4:45 · pas 6 de 6</a:t>
            </a:r>
          </a:p>
          <a:p/>
          <a:p>
            <a:r>
              <a:t>• Mateixa petició, però amb un model que s'hi pensa més.</a:t>
            </a:r>
          </a:p>
          <a:p>
            <a:r>
              <a:t>• A primera vista, és correcta. Molta gent la faria servir.</a:t>
            </a:r>
          </a:p>
          <a:p>
            <a:r>
              <a:t>• Però mirem-la amb ulls de docent.</a:t>
            </a:r>
          </a:p>
          <a:p/>
          <a:p>
            <a:r>
              <a:t>Imatge o demostració:</a:t>
            </a:r>
          </a:p>
          <a:p>
            <a:r>
              <a:t>El menú de la web B i la solució pas a pas després de dos errors.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Minut 4:45–5:45 · pas 1 de 6</a:t>
            </a:r>
          </a:p>
          <a:p/>
          <a:p>
            <a:r>
              <a:t>• La resposta correcta és 2. Dir «Gairebé» a 99 és enganyar l'alumne.</a:t>
            </a:r>
          </a:p>
          <a:p>
            <a:r>
              <a:t>• Cobrir tot el currículum no vol dir ensenyar-lo. Per a aquest alumne, és impossible i ningú no ho ha decidit.</a:t>
            </a:r>
          </a:p>
          <a:p/>
          <a:p>
            <a:r>
              <a:t>Imatge o demostració:</a:t>
            </a:r>
          </a:p>
          <a:p>
            <a:r>
              <a:t>La resposta «Gairebé» després d'escriure 99. L'aplicació esborra</a:t>
            </a:r>
          </a:p>
          <a:p>
            <a:r>
              <a:t>la resposta, per això no es veu el 99.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Minut 4:45–5:45 · pas 2 de 6</a:t>
            </a:r>
          </a:p>
          <a:p/>
          <a:p>
            <a:r>
              <a:t>• La resposta correcta és 2. Dir «Gairebé» a 99 és enganyar l'alumne.</a:t>
            </a:r>
          </a:p>
          <a:p>
            <a:r>
              <a:t>• Cobrir tot el currículum no vol dir ensenyar-lo. Per a aquest alumne, és impossible i ningú no ho ha decidit.</a:t>
            </a:r>
          </a:p>
          <a:p/>
          <a:p>
            <a:r>
              <a:t>Imatge o demostració:</a:t>
            </a:r>
          </a:p>
          <a:p>
            <a:r>
              <a:t>La resposta «Gairebé» després d'escriure 99. L'aplicació esborra</a:t>
            </a:r>
          </a:p>
          <a:p>
            <a:r>
              <a:t>la resposta, per això no es veu el 99.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Minut 4:45–5:45 · pas 3 de 6</a:t>
            </a:r>
          </a:p>
          <a:p/>
          <a:p>
            <a:r>
              <a:t>• La resposta correcta és 2. Dir «Gairebé» a 99 és enganyar l'alumne.</a:t>
            </a:r>
          </a:p>
          <a:p>
            <a:r>
              <a:t>• Cobrir tot el currículum no vol dir ensenyar-lo. Per a aquest alumne, és impossible i ningú no ho ha decidit.</a:t>
            </a:r>
          </a:p>
          <a:p/>
          <a:p>
            <a:r>
              <a:t>Imatge o demostració:</a:t>
            </a:r>
          </a:p>
          <a:p>
            <a:r>
              <a:t>La resposta «Gairebé» després d'escriure 99. L'aplicació esborra</a:t>
            </a:r>
          </a:p>
          <a:p>
            <a:r>
              <a:t>la resposta, per això no es veu el 99.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Minut 4:45–5:45 · pas 4 de 6</a:t>
            </a:r>
          </a:p>
          <a:p/>
          <a:p>
            <a:r>
              <a:t>• La resposta correcta és 2. Dir «Gairebé» a 99 és enganyar l'alumne.</a:t>
            </a:r>
          </a:p>
          <a:p>
            <a:r>
              <a:t>• Cobrir tot el currículum no vol dir ensenyar-lo. Per a aquest alumne, és impossible i ningú no ho ha decidit.</a:t>
            </a:r>
          </a:p>
          <a:p/>
          <a:p>
            <a:r>
              <a:t>Imatge o demostració:</a:t>
            </a:r>
          </a:p>
          <a:p>
            <a:r>
              <a:t>La resposta «Gairebé» després d'escriure 99. L'aplicació esborra</a:t>
            </a:r>
          </a:p>
          <a:p>
            <a:r>
              <a:t>la resposta, per això no es veu el 99.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Minut 4:45–5:45 · pas 5 de 6</a:t>
            </a:r>
          </a:p>
          <a:p/>
          <a:p>
            <a:r>
              <a:t>• La resposta correcta és 2. Dir «Gairebé» a 99 és enganyar l'alumne.</a:t>
            </a:r>
          </a:p>
          <a:p>
            <a:r>
              <a:t>• Cobrir tot el currículum no vol dir ensenyar-lo. Per a aquest alumne, és impossible i ningú no ho ha decidit.</a:t>
            </a:r>
          </a:p>
          <a:p/>
          <a:p>
            <a:r>
              <a:t>Imatge o demostració:</a:t>
            </a:r>
          </a:p>
          <a:p>
            <a:r>
              <a:t>La resposta «Gairebé» després d'escriure 99. L'aplicació esborra</a:t>
            </a:r>
          </a:p>
          <a:p>
            <a:r>
              <a:t>la resposta, per això no es veu el 99.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Minut 4:45–5:45 · pas 6 de 6</a:t>
            </a:r>
          </a:p>
          <a:p/>
          <a:p>
            <a:r>
              <a:t>• La resposta correcta és 2. Dir «Gairebé» a 99 és enganyar l'alumne.</a:t>
            </a:r>
          </a:p>
          <a:p>
            <a:r>
              <a:t>• Cobrir tot el currículum no vol dir ensenyar-lo. Per a aquest alumne, és impossible i ningú no ho ha decidit.</a:t>
            </a:r>
          </a:p>
          <a:p/>
          <a:p>
            <a:r>
              <a:t>Imatge o demostració:</a:t>
            </a:r>
          </a:p>
          <a:p>
            <a:r>
              <a:t>La resposta «Gairebé» després d'escriure 99. L'aplicació esborra</a:t>
            </a:r>
          </a:p>
          <a:p>
            <a:r>
              <a:t>la resposta, per això no es veu el 99.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Minut 5:45–6:15 · pas 1 de 6</a:t>
            </a:r>
          </a:p>
          <a:p/>
          <a:p>
            <a:r>
              <a:t>• La web no és tot: el docent reparteix paper. Mirem els PDF.</a:t>
            </a:r>
          </a:p>
          <a:p>
            <a:r>
              <a:t>• A: tot el curs de 4t cap en 5 pàgines. Gairebé tot el text fa 9, 10 o 11 pt. És en color, i al centre s'imprimeix en blanc i negre.</a:t>
            </a:r>
          </a:p>
          <a:p>
            <a:r>
              <a:t>• I la portada que rep l'alumne diu el seu diagnòstic.</a:t>
            </a:r>
          </a:p>
          <a:p>
            <a:r>
              <a:t>• B: 54 pàgines, amb 126 paraules per pàgina; les fitxes de 4t en tenen 83. La pàgina de solucions és dins del quadern que rep l'alumne.</a:t>
            </a:r>
          </a:p>
          <a:p>
            <a:r>
              <a:t>• Les dades surten de comptar-ho als PDF: pàgines, mides de lletra i paraules per pàgina.</a:t>
            </a:r>
          </a:p>
          <a:p/>
          <a:p>
            <a:r>
              <a:t>Imatge o demostració:</a:t>
            </a:r>
          </a:p>
          <a:p>
            <a:r>
              <a:t>A: la pàgina de la unitat 1. B: la pàgina de les equacions.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Minut 5:45–6:15 · pas 2 de 6</a:t>
            </a:r>
          </a:p>
          <a:p/>
          <a:p>
            <a:r>
              <a:t>• La web no és tot: el docent reparteix paper. Mirem els PDF.</a:t>
            </a:r>
          </a:p>
          <a:p>
            <a:r>
              <a:t>• A: tot el curs de 4t cap en 5 pàgines. Gairebé tot el text fa 9, 10 o 11 pt. És en color, i al centre s'imprimeix en blanc i negre.</a:t>
            </a:r>
          </a:p>
          <a:p>
            <a:r>
              <a:t>• I la portada que rep l'alumne diu el seu diagnòstic.</a:t>
            </a:r>
          </a:p>
          <a:p>
            <a:r>
              <a:t>• B: 54 pàgines, amb 126 paraules per pàgina; les fitxes de 4t en tenen 83. La pàgina de solucions és dins del quadern que rep l'alumne.</a:t>
            </a:r>
          </a:p>
          <a:p>
            <a:r>
              <a:t>• Les dades surten de comptar-ho als PDF: pàgines, mides de lletra i paraules per pàgina.</a:t>
            </a:r>
          </a:p>
          <a:p/>
          <a:p>
            <a:r>
              <a:t>Imatge o demostració:</a:t>
            </a:r>
          </a:p>
          <a:p>
            <a:r>
              <a:t>A: la pàgina de la unitat 1. B: la pàgina de les equacions.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Minut 5:45–6:15 · pas 3 de 6</a:t>
            </a:r>
          </a:p>
          <a:p/>
          <a:p>
            <a:r>
              <a:t>• La web no és tot: el docent reparteix paper. Mirem els PDF.</a:t>
            </a:r>
          </a:p>
          <a:p>
            <a:r>
              <a:t>• A: tot el curs de 4t cap en 5 pàgines. Gairebé tot el text fa 9, 10 o 11 pt. És en color, i al centre s'imprimeix en blanc i negre.</a:t>
            </a:r>
          </a:p>
          <a:p>
            <a:r>
              <a:t>• I la portada que rep l'alumne diu el seu diagnòstic.</a:t>
            </a:r>
          </a:p>
          <a:p>
            <a:r>
              <a:t>• B: 54 pàgines, amb 126 paraules per pàgina; les fitxes de 4t en tenen 83. La pàgina de solucions és dins del quadern que rep l'alumne.</a:t>
            </a:r>
          </a:p>
          <a:p>
            <a:r>
              <a:t>• Les dades surten de comptar-ho als PDF: pàgines, mides de lletra i paraules per pàgina.</a:t>
            </a:r>
          </a:p>
          <a:p/>
          <a:p>
            <a:r>
              <a:t>Imatge o demostració:</a:t>
            </a:r>
          </a:p>
          <a:p>
            <a:r>
              <a:t>A: la pàgina de la unitat 1. B: la pàgina de les equacions.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Minut 5:45–6:15 · pas 4 de 6</a:t>
            </a:r>
          </a:p>
          <a:p/>
          <a:p>
            <a:r>
              <a:t>• La web no és tot: el docent reparteix paper. Mirem els PDF.</a:t>
            </a:r>
          </a:p>
          <a:p>
            <a:r>
              <a:t>• A: tot el curs de 4t cap en 5 pàgines. Gairebé tot el text fa 9, 10 o 11 pt. És en color, i al centre s'imprimeix en blanc i negre.</a:t>
            </a:r>
          </a:p>
          <a:p>
            <a:r>
              <a:t>• I la portada que rep l'alumne diu el seu diagnòstic.</a:t>
            </a:r>
          </a:p>
          <a:p>
            <a:r>
              <a:t>• B: 54 pàgines, amb 126 paraules per pàgina; les fitxes de 4t en tenen 83. La pàgina de solucions és dins del quadern que rep l'alumne.</a:t>
            </a:r>
          </a:p>
          <a:p>
            <a:r>
              <a:t>• Les dades surten de comptar-ho als PDF: pàgines, mides de lletra i paraules per pàgina.</a:t>
            </a:r>
          </a:p>
          <a:p/>
          <a:p>
            <a:r>
              <a:t>Imatge o demostració:</a:t>
            </a:r>
          </a:p>
          <a:p>
            <a:r>
              <a:t>A: la pàgina de la unitat 1. B: la pàgina de les equacions.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Minut 5:45–6:15 · pas 5 de 6</a:t>
            </a:r>
          </a:p>
          <a:p/>
          <a:p>
            <a:r>
              <a:t>• La web no és tot: el docent reparteix paper. Mirem els PDF.</a:t>
            </a:r>
          </a:p>
          <a:p>
            <a:r>
              <a:t>• A: tot el curs de 4t cap en 5 pàgines. Gairebé tot el text fa 9, 10 o 11 pt. És en color, i al centre s'imprimeix en blanc i negre.</a:t>
            </a:r>
          </a:p>
          <a:p>
            <a:r>
              <a:t>• I la portada que rep l'alumne diu el seu diagnòstic.</a:t>
            </a:r>
          </a:p>
          <a:p>
            <a:r>
              <a:t>• B: 54 pàgines, amb 126 paraules per pàgina; les fitxes de 4t en tenen 83. La pàgina de solucions és dins del quadern que rep l'alumne.</a:t>
            </a:r>
          </a:p>
          <a:p>
            <a:r>
              <a:t>• Les dades surten de comptar-ho als PDF: pàgines, mides de lletra i paraules per pàgina.</a:t>
            </a:r>
          </a:p>
          <a:p/>
          <a:p>
            <a:r>
              <a:t>Imatge o demostració:</a:t>
            </a:r>
          </a:p>
          <a:p>
            <a:r>
              <a:t>A: la pàgina de la unitat 1. B: la pàgina de les equacions.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Minut 5:45–6:15 · pas 6 de 6</a:t>
            </a:r>
          </a:p>
          <a:p/>
          <a:p>
            <a:r>
              <a:t>• La web no és tot: el docent reparteix paper. Mirem els PDF.</a:t>
            </a:r>
          </a:p>
          <a:p>
            <a:r>
              <a:t>• A: tot el curs de 4t cap en 5 pàgines. Gairebé tot el text fa 9, 10 o 11 pt. És en color, i al centre s'imprimeix en blanc i negre.</a:t>
            </a:r>
          </a:p>
          <a:p>
            <a:r>
              <a:t>• I la portada que rep l'alumne diu el seu diagnòstic.</a:t>
            </a:r>
          </a:p>
          <a:p>
            <a:r>
              <a:t>• B: 54 pàgines, amb 126 paraules per pàgina; les fitxes de 4t en tenen 83. La pàgina de solucions és dins del quadern que rep l'alumne.</a:t>
            </a:r>
          </a:p>
          <a:p>
            <a:r>
              <a:t>• Les dades surten de comptar-ho als PDF: pàgines, mides de lletra i paraules per pàgina.</a:t>
            </a:r>
          </a:p>
          <a:p/>
          <a:p>
            <a:r>
              <a:t>Imatge o demostració:</a:t>
            </a:r>
          </a:p>
          <a:p>
            <a:r>
              <a:t>A: la pàgina de la unitat 1. B: la pàgina de les equacions.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Minut 6:15–6:45 · pas 1 de 5</a:t>
            </a:r>
          </a:p>
          <a:p/>
          <a:p>
            <a:r>
              <a:t>• Les dues fitxes ensenyen el mateix: les equacions com una balança.</a:t>
            </a:r>
          </a:p>
          <a:p>
            <a:r>
              <a:t>• La de B ho diu amb una frase i passa als exercicis.</a:t>
            </a:r>
          </a:p>
          <a:p>
            <a:r>
              <a:t>• La nostra dibuixa la balança, pregunta «Què hi veus?» i deixa que el símbol surti del dibuix.</a:t>
            </a:r>
          </a:p>
          <a:p>
            <a:r>
              <a:t>• Blanc i negre perquè s'imprimeix així. Tot el text de l'alumne a 14 pt. El solucionari és un PDF a part, i cap fitxa diu «adaptada».</a:t>
            </a:r>
          </a:p>
          <a:p/>
          <a:p>
            <a:r>
              <a:t>Imatge o demostració:</a:t>
            </a:r>
          </a:p>
          <a:p>
            <a:r>
              <a:t>Les dues pàgines juntes: a l'esquerra B, a la dreta la primera</a:t>
            </a:r>
          </a:p>
          <a:p>
            <a:r>
              <a:t>pàgina de la UD4 de 4t.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Minut 6:15–6:45 · pas 2 de 5</a:t>
            </a:r>
          </a:p>
          <a:p/>
          <a:p>
            <a:r>
              <a:t>• Les dues fitxes ensenyen el mateix: les equacions com una balança.</a:t>
            </a:r>
          </a:p>
          <a:p>
            <a:r>
              <a:t>• La de B ho diu amb una frase i passa als exercicis.</a:t>
            </a:r>
          </a:p>
          <a:p>
            <a:r>
              <a:t>• La nostra dibuixa la balança, pregunta «Què hi veus?» i deixa que el símbol surti del dibuix.</a:t>
            </a:r>
          </a:p>
          <a:p>
            <a:r>
              <a:t>• Blanc i negre perquè s'imprimeix així. Tot el text de l'alumne a 14 pt. El solucionari és un PDF a part, i cap fitxa diu «adaptada».</a:t>
            </a:r>
          </a:p>
          <a:p/>
          <a:p>
            <a:r>
              <a:t>Imatge o demostració:</a:t>
            </a:r>
          </a:p>
          <a:p>
            <a:r>
              <a:t>Les dues pàgines juntes: a l'esquerra B, a la dreta la primera</a:t>
            </a:r>
          </a:p>
          <a:p>
            <a:r>
              <a:t>pàgina de la UD4 de 4t.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Minut 6:15–6:45 · pas 3 de 5</a:t>
            </a:r>
          </a:p>
          <a:p/>
          <a:p>
            <a:r>
              <a:t>• Les dues fitxes ensenyen el mateix: les equacions com una balança.</a:t>
            </a:r>
          </a:p>
          <a:p>
            <a:r>
              <a:t>• La de B ho diu amb una frase i passa als exercicis.</a:t>
            </a:r>
          </a:p>
          <a:p>
            <a:r>
              <a:t>• La nostra dibuixa la balança, pregunta «Què hi veus?» i deixa que el símbol surti del dibuix.</a:t>
            </a:r>
          </a:p>
          <a:p>
            <a:r>
              <a:t>• Blanc i negre perquè s'imprimeix així. Tot el text de l'alumne a 14 pt. El solucionari és un PDF a part, i cap fitxa diu «adaptada».</a:t>
            </a:r>
          </a:p>
          <a:p/>
          <a:p>
            <a:r>
              <a:t>Imatge o demostració:</a:t>
            </a:r>
          </a:p>
          <a:p>
            <a:r>
              <a:t>Les dues pàgines juntes: a l'esquerra B, a la dreta la primera</a:t>
            </a:r>
          </a:p>
          <a:p>
            <a:r>
              <a:t>pàgina de la UD4 de 4t.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Minut 6:15–6:45 · pas 4 de 5</a:t>
            </a:r>
          </a:p>
          <a:p/>
          <a:p>
            <a:r>
              <a:t>• Les dues fitxes ensenyen el mateix: les equacions com una balança.</a:t>
            </a:r>
          </a:p>
          <a:p>
            <a:r>
              <a:t>• La de B ho diu amb una frase i passa als exercicis.</a:t>
            </a:r>
          </a:p>
          <a:p>
            <a:r>
              <a:t>• La nostra dibuixa la balança, pregunta «Què hi veus?» i deixa que el símbol surti del dibuix.</a:t>
            </a:r>
          </a:p>
          <a:p>
            <a:r>
              <a:t>• Blanc i negre perquè s'imprimeix així. Tot el text de l'alumne a 14 pt. El solucionari és un PDF a part, i cap fitxa diu «adaptada».</a:t>
            </a:r>
          </a:p>
          <a:p/>
          <a:p>
            <a:r>
              <a:t>Imatge o demostració:</a:t>
            </a:r>
          </a:p>
          <a:p>
            <a:r>
              <a:t>Les dues pàgines juntes: a l'esquerra B, a la dreta la primera</a:t>
            </a:r>
          </a:p>
          <a:p>
            <a:r>
              <a:t>pàgina de la UD4 de 4t.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Minut 6:15–6:45 · pas 5 de 5</a:t>
            </a:r>
          </a:p>
          <a:p/>
          <a:p>
            <a:r>
              <a:t>• Les dues fitxes ensenyen el mateix: les equacions com una balança.</a:t>
            </a:r>
          </a:p>
          <a:p>
            <a:r>
              <a:t>• La de B ho diu amb una frase i passa als exercicis.</a:t>
            </a:r>
          </a:p>
          <a:p>
            <a:r>
              <a:t>• La nostra dibuixa la balança, pregunta «Què hi veus?» i deixa que el símbol surti del dibuix.</a:t>
            </a:r>
          </a:p>
          <a:p>
            <a:r>
              <a:t>• Blanc i negre perquè s'imprimeix així. Tot el text de l'alumne a 14 pt. El solucionari és un PDF a part, i cap fitxa diu «adaptada».</a:t>
            </a:r>
          </a:p>
          <a:p/>
          <a:p>
            <a:r>
              <a:t>Imatge o demostració:</a:t>
            </a:r>
          </a:p>
          <a:p>
            <a:r>
              <a:t>Les dues pàgines juntes: a l'esquerra B, a la dreta la primera</a:t>
            </a:r>
          </a:p>
          <a:p>
            <a:r>
              <a:t>pàgina de la UD4 de 4t.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Minut 6:45–7:30 · pas 1 de 5</a:t>
            </a:r>
          </a:p>
          <a:p/>
          <a:p>
            <a:r>
              <a:t>• Aquí és on l'humà surt del bucle.</a:t>
            </a:r>
          </a:p>
          <a:p>
            <a:r>
              <a:t>• La IA va fer exactament les preguntes que faria un bon company de departament. Ningú no les va respondre.</a:t>
            </a:r>
          </a:p>
          <a:p>
            <a:r>
              <a:t>• Tot el que ve després va de respondre aquestes preguntes.</a:t>
            </a:r>
          </a:p>
          <a:p/>
          <a:p>
            <a:r>
              <a:t>Imatge o demostració:</a:t>
            </a:r>
          </a:p>
          <a:p>
            <a:r>
              <a:t>Cap. (O una captura de Fast-build-B/Fast-build-B-conversa.docx)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Minut 6:45–7:30 · pas 2 de 5</a:t>
            </a:r>
          </a:p>
          <a:p/>
          <a:p>
            <a:r>
              <a:t>• Aquí és on l'humà surt del bucle.</a:t>
            </a:r>
          </a:p>
          <a:p>
            <a:r>
              <a:t>• La IA va fer exactament les preguntes que faria un bon company de departament. Ningú no les va respondre.</a:t>
            </a:r>
          </a:p>
          <a:p>
            <a:r>
              <a:t>• Tot el que ve després va de respondre aquestes preguntes.</a:t>
            </a:r>
          </a:p>
          <a:p/>
          <a:p>
            <a:r>
              <a:t>Imatge o demostració:</a:t>
            </a:r>
          </a:p>
          <a:p>
            <a:r>
              <a:t>Cap. (O una captura de Fast-build-B/Fast-build-B-conversa.docx)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Minut 6:45–7:30 · pas 3 de 5</a:t>
            </a:r>
          </a:p>
          <a:p/>
          <a:p>
            <a:r>
              <a:t>• Aquí és on l'humà surt del bucle.</a:t>
            </a:r>
          </a:p>
          <a:p>
            <a:r>
              <a:t>• La IA va fer exactament les preguntes que faria un bon company de departament. Ningú no les va respondre.</a:t>
            </a:r>
          </a:p>
          <a:p>
            <a:r>
              <a:t>• Tot el que ve després va de respondre aquestes preguntes.</a:t>
            </a:r>
          </a:p>
          <a:p/>
          <a:p>
            <a:r>
              <a:t>Imatge o demostració:</a:t>
            </a:r>
          </a:p>
          <a:p>
            <a:r>
              <a:t>Cap. (O una captura de Fast-build-B/Fast-build-B-conversa.docx)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Minut 6:45–7:30 · pas 4 de 5</a:t>
            </a:r>
          </a:p>
          <a:p/>
          <a:p>
            <a:r>
              <a:t>• Aquí és on l'humà surt del bucle.</a:t>
            </a:r>
          </a:p>
          <a:p>
            <a:r>
              <a:t>• La IA va fer exactament les preguntes que faria un bon company de departament. Ningú no les va respondre.</a:t>
            </a:r>
          </a:p>
          <a:p>
            <a:r>
              <a:t>• Tot el que ve després va de respondre aquestes preguntes.</a:t>
            </a:r>
          </a:p>
          <a:p/>
          <a:p>
            <a:r>
              <a:t>Imatge o demostració:</a:t>
            </a:r>
          </a:p>
          <a:p>
            <a:r>
              <a:t>Cap. (O una captura de Fast-build-B/Fast-build-B-conversa.docx)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Minut 6:45–7:30 · pas 5 de 5</a:t>
            </a:r>
          </a:p>
          <a:p/>
          <a:p>
            <a:r>
              <a:t>• Aquí és on l'humà surt del bucle.</a:t>
            </a:r>
          </a:p>
          <a:p>
            <a:r>
              <a:t>• La IA va fer exactament les preguntes que faria un bon company de departament. Ningú no les va respondre.</a:t>
            </a:r>
          </a:p>
          <a:p>
            <a:r>
              <a:t>• Tot el que ve després va de respondre aquestes preguntes.</a:t>
            </a:r>
          </a:p>
          <a:p/>
          <a:p>
            <a:r>
              <a:t>Imatge o demostració:</a:t>
            </a:r>
          </a:p>
          <a:p>
            <a:r>
              <a:t>Cap. (O una captura de Fast-build-B/Fast-build-B-conversa.docx)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Minut 7:30–8:15 · pas 1 de 5</a:t>
            </a:r>
          </a:p>
          <a:p/>
          <a:p>
            <a:r>
              <a:t>• La IA no sap llegir com llegeix el teu alumne. Tu sí.</a:t>
            </a:r>
          </a:p>
          <a:p>
            <a:r>
              <a:t>• Una correcció del docent es va convertir en una regla per a tot el material.</a:t>
            </a:r>
          </a:p>
          <a:p/>
          <a:p>
            <a:r>
              <a:t>Imatge o demostració:</a:t>
            </a:r>
          </a:p>
          <a:p>
            <a:r>
              <a:t>Del document: «La UD1 de 4t, pàgina a pàgina, el 5, el 14, el 20</a:t>
            </a:r>
          </a:p>
          <a:p>
            <a:r>
              <a:t>i el 30 de setembre».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Minut 7:30–8:15 · pas 2 de 5</a:t>
            </a:r>
          </a:p>
          <a:p/>
          <a:p>
            <a:r>
              <a:t>• La IA no sap llegir com llegeix el teu alumne. Tu sí.</a:t>
            </a:r>
          </a:p>
          <a:p>
            <a:r>
              <a:t>• Una correcció del docent es va convertir en una regla per a tot el material.</a:t>
            </a:r>
          </a:p>
          <a:p/>
          <a:p>
            <a:r>
              <a:t>Imatge o demostració:</a:t>
            </a:r>
          </a:p>
          <a:p>
            <a:r>
              <a:t>Del document: «La UD1 de 4t, pàgina a pàgina, el 5, el 14, el 20</a:t>
            </a:r>
          </a:p>
          <a:p>
            <a:r>
              <a:t>i el 30 de setembre».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Minut 7:30–8:15 · pas 3 de 5</a:t>
            </a:r>
          </a:p>
          <a:p/>
          <a:p>
            <a:r>
              <a:t>• La IA no sap llegir com llegeix el teu alumne. Tu sí.</a:t>
            </a:r>
          </a:p>
          <a:p>
            <a:r>
              <a:t>• Una correcció del docent es va convertir en una regla per a tot el material.</a:t>
            </a:r>
          </a:p>
          <a:p/>
          <a:p>
            <a:r>
              <a:t>Imatge o demostració:</a:t>
            </a:r>
          </a:p>
          <a:p>
            <a:r>
              <a:t>Del document: «La UD1 de 4t, pàgina a pàgina, el 5, el 14, el 20</a:t>
            </a:r>
          </a:p>
          <a:p>
            <a:r>
              <a:t>i el 30 de setembre».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Minut 7:30–8:15 · pas 4 de 5</a:t>
            </a:r>
          </a:p>
          <a:p/>
          <a:p>
            <a:r>
              <a:t>• La IA no sap llegir com llegeix el teu alumne. Tu sí.</a:t>
            </a:r>
          </a:p>
          <a:p>
            <a:r>
              <a:t>• Una correcció del docent es va convertir en una regla per a tot el material.</a:t>
            </a:r>
          </a:p>
          <a:p/>
          <a:p>
            <a:r>
              <a:t>Imatge o demostració:</a:t>
            </a:r>
          </a:p>
          <a:p>
            <a:r>
              <a:t>Del document: «La UD1 de 4t, pàgina a pàgina, el 5, el 14, el 20</a:t>
            </a:r>
          </a:p>
          <a:p>
            <a:r>
              <a:t>i el 30 de setembre».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Minut 7:30–8:15 · pas 5 de 5</a:t>
            </a:r>
          </a:p>
          <a:p/>
          <a:p>
            <a:r>
              <a:t>• La IA no sap llegir com llegeix el teu alumne. Tu sí.</a:t>
            </a:r>
          </a:p>
          <a:p>
            <a:r>
              <a:t>• Una correcció del docent es va convertir en una regla per a tot el material.</a:t>
            </a:r>
          </a:p>
          <a:p/>
          <a:p>
            <a:r>
              <a:t>Imatge o demostració:</a:t>
            </a:r>
          </a:p>
          <a:p>
            <a:r>
              <a:t>Del document: «La UD1 de 4t, pàgina a pàgina, el 5, el 14, el 20</a:t>
            </a:r>
          </a:p>
          <a:p>
            <a:r>
              <a:t>i el 30 de setembre».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Minut 8:15–9:00 · pas 1 de 5</a:t>
            </a:r>
          </a:p>
          <a:p/>
          <a:p>
            <a:r>
              <a:t>• Cap IA sap quina calculadora hi ha a la taula del teu alumne.</a:t>
            </a:r>
          </a:p>
          <a:p>
            <a:r>
              <a:t>• Ara la pantalla és igual que l'aparell: la tecla EXE i els mateixos decimals.</a:t>
            </a:r>
          </a:p>
          <a:p/>
          <a:p>
            <a:r>
              <a:t>Imatge o demostració:</a:t>
            </a:r>
          </a:p>
          <a:p>
            <a:r>
              <a:t>Del document: «La calculadora de la caixa d'eines el 16 i el 23</a:t>
            </a:r>
          </a:p>
          <a:p>
            <a:r>
              <a:t>de setembre», partida en dues: abans i ara.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Minut 8:15–9:00 · pas 2 de 5</a:t>
            </a:r>
          </a:p>
          <a:p/>
          <a:p>
            <a:r>
              <a:t>• Cap IA sap quina calculadora hi ha a la taula del teu alumne.</a:t>
            </a:r>
          </a:p>
          <a:p>
            <a:r>
              <a:t>• Ara la pantalla és igual que l'aparell: la tecla EXE i els mateixos decimals.</a:t>
            </a:r>
          </a:p>
          <a:p/>
          <a:p>
            <a:r>
              <a:t>Imatge o demostració:</a:t>
            </a:r>
          </a:p>
          <a:p>
            <a:r>
              <a:t>Del document: «La calculadora de la caixa d'eines el 16 i el 23</a:t>
            </a:r>
          </a:p>
          <a:p>
            <a:r>
              <a:t>de setembre», partida en dues: abans i ara.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Minut 8:15–9:00 · pas 3 de 5</a:t>
            </a:r>
          </a:p>
          <a:p/>
          <a:p>
            <a:r>
              <a:t>• Cap IA sap quina calculadora hi ha a la taula del teu alumne.</a:t>
            </a:r>
          </a:p>
          <a:p>
            <a:r>
              <a:t>• Ara la pantalla és igual que l'aparell: la tecla EXE i els mateixos decimals.</a:t>
            </a:r>
          </a:p>
          <a:p/>
          <a:p>
            <a:r>
              <a:t>Imatge o demostració:</a:t>
            </a:r>
          </a:p>
          <a:p>
            <a:r>
              <a:t>Del document: «La calculadora de la caixa d'eines el 16 i el 23</a:t>
            </a:r>
          </a:p>
          <a:p>
            <a:r>
              <a:t>de setembre», partida en dues: abans i ara.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Minut 8:15–9:00 · pas 4 de 5</a:t>
            </a:r>
          </a:p>
          <a:p/>
          <a:p>
            <a:r>
              <a:t>• Cap IA sap quina calculadora hi ha a la taula del teu alumne.</a:t>
            </a:r>
          </a:p>
          <a:p>
            <a:r>
              <a:t>• Ara la pantalla és igual que l'aparell: la tecla EXE i els mateixos decimals.</a:t>
            </a:r>
          </a:p>
          <a:p/>
          <a:p>
            <a:r>
              <a:t>Imatge o demostració:</a:t>
            </a:r>
          </a:p>
          <a:p>
            <a:r>
              <a:t>Del document: «La calculadora de la caixa d'eines el 16 i el 23</a:t>
            </a:r>
          </a:p>
          <a:p>
            <a:r>
              <a:t>de setembre», partida en dues: abans i ara.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Minut 8:15–9:00 · pas 5 de 5</a:t>
            </a:r>
          </a:p>
          <a:p/>
          <a:p>
            <a:r>
              <a:t>• Cap IA sap quina calculadora hi ha a la taula del teu alumne.</a:t>
            </a:r>
          </a:p>
          <a:p>
            <a:r>
              <a:t>• Ara la pantalla és igual que l'aparell: la tecla EXE i els mateixos decimals.</a:t>
            </a:r>
          </a:p>
          <a:p/>
          <a:p>
            <a:r>
              <a:t>Imatge o demostració:</a:t>
            </a:r>
          </a:p>
          <a:p>
            <a:r>
              <a:t>Del document: «La calculadora de la caixa d'eines el 16 i el 23</a:t>
            </a:r>
          </a:p>
          <a:p>
            <a:r>
              <a:t>de setembre», partida en dues: abans i ara.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Minut 9:00–9:45 · pas 1 de 3</a:t>
            </a:r>
          </a:p>
          <a:p/>
          <a:p>
            <a:r>
              <a:t>• Un error així el veu un professor de matemàtiques en un cop d'ull. La IA no el va veure.</a:t>
            </a:r>
          </a:p>
          <a:p>
            <a:r>
              <a:t>• Ara totes les igualtats impreses es comproven automàticament.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Minut 9:00–9:45 · pas 2 de 3</a:t>
            </a:r>
          </a:p>
          <a:p/>
          <a:p>
            <a:r>
              <a:t>• Un error així el veu un professor de matemàtiques en un cop d'ull. La IA no el va veure.</a:t>
            </a:r>
          </a:p>
          <a:p>
            <a:r>
              <a:t>• Ara totes les igualtats impreses es comproven automàticament.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Minut 9:00–9:45 · pas 3 de 3</a:t>
            </a:r>
          </a:p>
          <a:p/>
          <a:p>
            <a:r>
              <a:t>• Un error així el veu un professor de matemàtiques en un cop d'ull. La IA no el va veure.</a:t>
            </a:r>
          </a:p>
          <a:p>
            <a:r>
              <a:t>• Ara totes les igualtats impreses es comproven automàticament.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Minut 9:45–10:30 · pas 1 de 5</a:t>
            </a:r>
          </a:p>
          <a:p/>
          <a:p>
            <a:r>
              <a:t>• Aquesta pàgina, «A la vida de cada dia», la va demanar el docent.</a:t>
            </a:r>
          </a:p>
          <a:p>
            <a:r>
              <a:t>• La IA no la va proposar mai. Ara n'hi ha una a cada unitat.</a:t>
            </a:r>
          </a:p>
          <a:p/>
          <a:p>
            <a:r>
              <a:t>Imatge o demostració:</a:t>
            </a:r>
          </a:p>
          <a:p>
            <a:r>
              <a:t>Del document: «L'última pàgina d'exercicis de la UD1 el 5 de</a:t>
            </a:r>
          </a:p>
          <a:p>
            <a:r>
              <a:t>setembre i la pàgina "A la vida de cada dia" el 23 de setembre».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Minut 9:45–10:30 · pas 2 de 5</a:t>
            </a:r>
          </a:p>
          <a:p/>
          <a:p>
            <a:r>
              <a:t>• Aquesta pàgina, «A la vida de cada dia», la va demanar el docent.</a:t>
            </a:r>
          </a:p>
          <a:p>
            <a:r>
              <a:t>• La IA no la va proposar mai. Ara n'hi ha una a cada unitat.</a:t>
            </a:r>
          </a:p>
          <a:p/>
          <a:p>
            <a:r>
              <a:t>Imatge o demostració:</a:t>
            </a:r>
          </a:p>
          <a:p>
            <a:r>
              <a:t>Del document: «L'última pàgina d'exercicis de la UD1 el 5 de</a:t>
            </a:r>
          </a:p>
          <a:p>
            <a:r>
              <a:t>setembre i la pàgina "A la vida de cada dia" el 23 de setembre».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Minut 9:45–10:30 · pas 3 de 5</a:t>
            </a:r>
          </a:p>
          <a:p/>
          <a:p>
            <a:r>
              <a:t>• Aquesta pàgina, «A la vida de cada dia», la va demanar el docent.</a:t>
            </a:r>
          </a:p>
          <a:p>
            <a:r>
              <a:t>• La IA no la va proposar mai. Ara n'hi ha una a cada unitat.</a:t>
            </a:r>
          </a:p>
          <a:p/>
          <a:p>
            <a:r>
              <a:t>Imatge o demostració:</a:t>
            </a:r>
          </a:p>
          <a:p>
            <a:r>
              <a:t>Del document: «L'última pàgina d'exercicis de la UD1 el 5 de</a:t>
            </a:r>
          </a:p>
          <a:p>
            <a:r>
              <a:t>setembre i la pàgina "A la vida de cada dia" el 23 de setembre».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Minut 9:45–10:30 · pas 4 de 5</a:t>
            </a:r>
          </a:p>
          <a:p/>
          <a:p>
            <a:r>
              <a:t>• Aquesta pàgina, «A la vida de cada dia», la va demanar el docent.</a:t>
            </a:r>
          </a:p>
          <a:p>
            <a:r>
              <a:t>• La IA no la va proposar mai. Ara n'hi ha una a cada unitat.</a:t>
            </a:r>
          </a:p>
          <a:p/>
          <a:p>
            <a:r>
              <a:t>Imatge o demostració:</a:t>
            </a:r>
          </a:p>
          <a:p>
            <a:r>
              <a:t>Del document: «L'última pàgina d'exercicis de la UD1 el 5 de</a:t>
            </a:r>
          </a:p>
          <a:p>
            <a:r>
              <a:t>setembre i la pàgina "A la vida de cada dia" el 23 de setembre».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Minut 9:45–10:30 · pas 5 de 5</a:t>
            </a:r>
          </a:p>
          <a:p/>
          <a:p>
            <a:r>
              <a:t>• Aquesta pàgina, «A la vida de cada dia», la va demanar el docent.</a:t>
            </a:r>
          </a:p>
          <a:p>
            <a:r>
              <a:t>• La IA no la va proposar mai. Ara n'hi ha una a cada unitat.</a:t>
            </a:r>
          </a:p>
          <a:p/>
          <a:p>
            <a:r>
              <a:t>Imatge o demostració:</a:t>
            </a:r>
          </a:p>
          <a:p>
            <a:r>
              <a:t>Del document: «L'última pàgina d'exercicis de la UD1 el 5 de</a:t>
            </a:r>
          </a:p>
          <a:p>
            <a:r>
              <a:t>setembre i la pàgina "A la vida de cada dia" el 23 de setembre».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Minut 10:30–12:30 · pas 1 de 6</a:t>
            </a:r>
          </a:p>
          <a:p/>
          <a:p>
            <a:r>
              <a:t>• 1. El filtre del centre bloqueja moltes coses. Si l'aplicació depèn d'internet, el dia que falla la xarxa no hi ha classe.</a:t>
            </a:r>
          </a:p>
          <a:p>
            <a:r>
              <a:t>• 2. Com el llibre i el solucionari: si una dada és en dos llocs, tard o d'hora es contradiuen.</a:t>
            </a:r>
          </a:p>
          <a:p>
            <a:r>
              <a:t>• 3. Com corregir amb el solucionari abans de fer les fotocòpies. Si la revisió troba un error, no es publica res.</a:t>
            </a:r>
          </a:p>
          <a:p>
            <a:r>
              <a:t>• La imatge: el 5 de setembre, la pàgina només es veia bé si l'ordinador tenia el mode fosc activat. A l'aula, era inservible. Es va veure perquè el docent la va provar.</a:t>
            </a:r>
          </a:p>
          <a:p>
            <a:r>
              <a:t>• Si vas just de temps, deixa només la primera frase i la imatge.</a:t>
            </a:r>
          </a:p>
          <a:p/>
          <a:p>
            <a:r>
              <a:t>Imatge o demostració:</a:t>
            </a:r>
          </a:p>
          <a:p>
            <a:r>
              <a:t>Del document: «La caixa d'eines de 4t el 5 de setembre, sense</a:t>
            </a:r>
          </a:p>
          <a:p>
            <a:r>
              <a:t>format, i el 23 de setembre, amb format», partida en dues: abans i ara.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Minut 10:30–12:30 · pas 2 de 6</a:t>
            </a:r>
          </a:p>
          <a:p/>
          <a:p>
            <a:r>
              <a:t>• 1. El filtre del centre bloqueja moltes coses. Si l'aplicació depèn d'internet, el dia que falla la xarxa no hi ha classe.</a:t>
            </a:r>
          </a:p>
          <a:p>
            <a:r>
              <a:t>• 2. Com el llibre i el solucionari: si una dada és en dos llocs, tard o d'hora es contradiuen.</a:t>
            </a:r>
          </a:p>
          <a:p>
            <a:r>
              <a:t>• 3. Com corregir amb el solucionari abans de fer les fotocòpies. Si la revisió troba un error, no es publica res.</a:t>
            </a:r>
          </a:p>
          <a:p>
            <a:r>
              <a:t>• La imatge: el 5 de setembre, la pàgina només es veia bé si l'ordinador tenia el mode fosc activat. A l'aula, era inservible. Es va veure perquè el docent la va provar.</a:t>
            </a:r>
          </a:p>
          <a:p>
            <a:r>
              <a:t>• Si vas just de temps, deixa només la primera frase i la imatge.</a:t>
            </a:r>
          </a:p>
          <a:p/>
          <a:p>
            <a:r>
              <a:t>Imatge o demostració:</a:t>
            </a:r>
          </a:p>
          <a:p>
            <a:r>
              <a:t>Del document: «La caixa d'eines de 4t el 5 de setembre, sense</a:t>
            </a:r>
          </a:p>
          <a:p>
            <a:r>
              <a:t>format, i el 23 de setembre, amb format», partida en dues: abans i ara.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Minut 10:30–12:30 · pas 3 de 6</a:t>
            </a:r>
          </a:p>
          <a:p/>
          <a:p>
            <a:r>
              <a:t>• 1. El filtre del centre bloqueja moltes coses. Si l'aplicació depèn d'internet, el dia que falla la xarxa no hi ha classe.</a:t>
            </a:r>
          </a:p>
          <a:p>
            <a:r>
              <a:t>• 2. Com el llibre i el solucionari: si una dada és en dos llocs, tard o d'hora es contradiuen.</a:t>
            </a:r>
          </a:p>
          <a:p>
            <a:r>
              <a:t>• 3. Com corregir amb el solucionari abans de fer les fotocòpies. Si la revisió troba un error, no es publica res.</a:t>
            </a:r>
          </a:p>
          <a:p>
            <a:r>
              <a:t>• La imatge: el 5 de setembre, la pàgina només es veia bé si l'ordinador tenia el mode fosc activat. A l'aula, era inservible. Es va veure perquè el docent la va provar.</a:t>
            </a:r>
          </a:p>
          <a:p>
            <a:r>
              <a:t>• Si vas just de temps, deixa només la primera frase i la imatge.</a:t>
            </a:r>
          </a:p>
          <a:p/>
          <a:p>
            <a:r>
              <a:t>Imatge o demostració:</a:t>
            </a:r>
          </a:p>
          <a:p>
            <a:r>
              <a:t>Del document: «La caixa d'eines de 4t el 5 de setembre, sense</a:t>
            </a:r>
          </a:p>
          <a:p>
            <a:r>
              <a:t>format, i el 23 de setembre, amb format», partida en dues: abans i ara.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Minut 10:30–12:30 · pas 4 de 6</a:t>
            </a:r>
          </a:p>
          <a:p/>
          <a:p>
            <a:r>
              <a:t>• 1. El filtre del centre bloqueja moltes coses. Si l'aplicació depèn d'internet, el dia que falla la xarxa no hi ha classe.</a:t>
            </a:r>
          </a:p>
          <a:p>
            <a:r>
              <a:t>• 2. Com el llibre i el solucionari: si una dada és en dos llocs, tard o d'hora es contradiuen.</a:t>
            </a:r>
          </a:p>
          <a:p>
            <a:r>
              <a:t>• 3. Com corregir amb el solucionari abans de fer les fotocòpies. Si la revisió troba un error, no es publica res.</a:t>
            </a:r>
          </a:p>
          <a:p>
            <a:r>
              <a:t>• La imatge: el 5 de setembre, la pàgina només es veia bé si l'ordinador tenia el mode fosc activat. A l'aula, era inservible. Es va veure perquè el docent la va provar.</a:t>
            </a:r>
          </a:p>
          <a:p>
            <a:r>
              <a:t>• Si vas just de temps, deixa només la primera frase i la imatge.</a:t>
            </a:r>
          </a:p>
          <a:p/>
          <a:p>
            <a:r>
              <a:t>Imatge o demostració:</a:t>
            </a:r>
          </a:p>
          <a:p>
            <a:r>
              <a:t>Del document: «La caixa d'eines de 4t el 5 de setembre, sense</a:t>
            </a:r>
          </a:p>
          <a:p>
            <a:r>
              <a:t>format, i el 23 de setembre, amb format», partida en dues: abans i ara.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Minut 10:30–12:30 · pas 5 de 6</a:t>
            </a:r>
          </a:p>
          <a:p/>
          <a:p>
            <a:r>
              <a:t>• 1. El filtre del centre bloqueja moltes coses. Si l'aplicació depèn d'internet, el dia que falla la xarxa no hi ha classe.</a:t>
            </a:r>
          </a:p>
          <a:p>
            <a:r>
              <a:t>• 2. Com el llibre i el solucionari: si una dada és en dos llocs, tard o d'hora es contradiuen.</a:t>
            </a:r>
          </a:p>
          <a:p>
            <a:r>
              <a:t>• 3. Com corregir amb el solucionari abans de fer les fotocòpies. Si la revisió troba un error, no es publica res.</a:t>
            </a:r>
          </a:p>
          <a:p>
            <a:r>
              <a:t>• La imatge: el 5 de setembre, la pàgina només es veia bé si l'ordinador tenia el mode fosc activat. A l'aula, era inservible. Es va veure perquè el docent la va provar.</a:t>
            </a:r>
          </a:p>
          <a:p>
            <a:r>
              <a:t>• Si vas just de temps, deixa només la primera frase i la imatge.</a:t>
            </a:r>
          </a:p>
          <a:p/>
          <a:p>
            <a:r>
              <a:t>Imatge o demostració:</a:t>
            </a:r>
          </a:p>
          <a:p>
            <a:r>
              <a:t>Del document: «La caixa d'eines de 4t el 5 de setembre, sense</a:t>
            </a:r>
          </a:p>
          <a:p>
            <a:r>
              <a:t>format, i el 23 de setembre, amb format», partida en dues: abans i ara.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Minut 10:30–12:30 · pas 6 de 6</a:t>
            </a:r>
          </a:p>
          <a:p/>
          <a:p>
            <a:r>
              <a:t>• 1. El filtre del centre bloqueja moltes coses. Si l'aplicació depèn d'internet, el dia que falla la xarxa no hi ha classe.</a:t>
            </a:r>
          </a:p>
          <a:p>
            <a:r>
              <a:t>• 2. Com el llibre i el solucionari: si una dada és en dos llocs, tard o d'hora es contradiuen.</a:t>
            </a:r>
          </a:p>
          <a:p>
            <a:r>
              <a:t>• 3. Com corregir amb el solucionari abans de fer les fotocòpies. Si la revisió troba un error, no es publica res.</a:t>
            </a:r>
          </a:p>
          <a:p>
            <a:r>
              <a:t>• La imatge: el 5 de setembre, la pàgina només es veia bé si l'ordinador tenia el mode fosc activat. A l'aula, era inservible. Es va veure perquè el docent la va provar.</a:t>
            </a:r>
          </a:p>
          <a:p>
            <a:r>
              <a:t>• Si vas just de temps, deixa només la primera frase i la imatge.</a:t>
            </a:r>
          </a:p>
          <a:p/>
          <a:p>
            <a:r>
              <a:t>Imatge o demostració:</a:t>
            </a:r>
          </a:p>
          <a:p>
            <a:r>
              <a:t>Del document: «La caixa d'eines de 4t el 5 de setembre, sense</a:t>
            </a:r>
          </a:p>
          <a:p>
            <a:r>
              <a:t>format, i el 23 de setembre, amb format», partida en dues: abans i ara.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Minut 12:30–14:15 · pas 1 de 6</a:t>
            </a:r>
          </a:p>
          <a:p/>
          <a:p>
            <a:r>
              <a:t>• Cada punt correspon a una història de la xerrada: 1 i 2, la conversa B. 3, el currículum sencer. 4, el botó que no responia. 5, les 700 paraules.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Minut 12:30–14:15 · pas 2 de 6</a:t>
            </a:r>
          </a:p>
          <a:p/>
          <a:p>
            <a:r>
              <a:t>• Cada punt correspon a una història de la xerrada: 1 i 2, la conversa B. 3, el currículum sencer. 4, el botó que no responia. 5, les 700 paraules.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Minut 12:30–14:15 · pas 3 de 6</a:t>
            </a:r>
          </a:p>
          <a:p/>
          <a:p>
            <a:r>
              <a:t>• Cada punt correspon a una història de la xerrada: 1 i 2, la conversa B. 3, el currículum sencer. 4, el botó que no responia. 5, les 700 paraules.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Minut 12:30–14:15 · pas 4 de 6</a:t>
            </a:r>
          </a:p>
          <a:p/>
          <a:p>
            <a:r>
              <a:t>• Cada punt correspon a una història de la xerrada: 1 i 2, la conversa B. 3, el currículum sencer. 4, el botó que no responia. 5, les 700 paraules.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Minut 12:30–14:15 · pas 5 de 6</a:t>
            </a:r>
          </a:p>
          <a:p/>
          <a:p>
            <a:r>
              <a:t>• Cada punt correspon a una història de la xerrada: 1 i 2, la conversa B. 3, el currículum sencer. 4, el botó que no responia. 5, les 700 paraules.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Minut 12:30–14:15 · pas 6 de 6</a:t>
            </a:r>
          </a:p>
          <a:p/>
          <a:p>
            <a:r>
              <a:t>• Cada punt correspon a una història de la xerrada: 1 i 2, la conversa B. 3, el currículum sencer. 4, el botó que no responia. 5, les 700 paraules.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Minut 14:15–15:00 · pas 1 de 3</a:t>
            </a:r>
          </a:p>
          <a:p/>
          <a:p>
            <a:r>
              <a:t>• Torna a la pregunta del principi: qui faria servir ara l'aplicació del primer minut?</a:t>
            </a:r>
          </a:p>
          <a:p>
            <a:r>
              <a:t>• Gràcies.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Minut 14:15–15:00 · pas 2 de 3</a:t>
            </a:r>
          </a:p>
          <a:p/>
          <a:p>
            <a:r>
              <a:t>• Torna a la pregunta del principi: qui faria servir ara l'aplicació del primer minut?</a:t>
            </a:r>
          </a:p>
          <a:p>
            <a:r>
              <a:t>• Gràcies.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Minut 14:15–15:00 · pas 3 de 3</a:t>
            </a:r>
          </a:p>
          <a:p/>
          <a:p>
            <a:r>
              <a:t>• Torna a la pregunta del principi: qui faria servir ara l'aplicació del primer minut?</a:t>
            </a:r>
          </a:p>
          <a:p>
            <a:r>
              <a:t>• Gràcies.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hyperlink" Target="https://arsocivil.github.io/pi3/conference/Fast-build-A/Fast-build-A-webapp.html" TargetMode="External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hyperlink" Target="https://arsocivil.github.io/pi3/conference/Fast-build-A/Fast-build-A-webapp.html" TargetMode="External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hyperlink" Target="https://arsocivil.github.io/pi3/conference/Fast-build-B/Fast-build-B-webapp.html" TargetMode="External"/><Relationship Id="rId5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Relationship Id="rId4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Relationship Id="rId4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Relationship Id="rId4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Relationship Id="rId4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Relationship Id="rId4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png"/><Relationship Id="rId4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png"/><Relationship Id="rId4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png"/><Relationship Id="rId4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png"/><Relationship Id="rId4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png"/><Relationship Id="rId4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20.png"/><Relationship Id="rId4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png"/><Relationship Id="rId4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png"/><Relationship Id="rId4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png"/><Relationship Id="rId4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1.png"/><Relationship Id="rId4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1.png"/><Relationship Id="rId4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1.png"/><Relationship Id="rId4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1.png"/><Relationship Id="rId4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1.png"/><Relationship Id="rId4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Relationship Id="rId4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Relationship Id="rId4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Relationship Id="rId4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Relationship Id="rId4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png"/><Relationship Id="rId4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png"/><Relationship Id="rId4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png"/><Relationship Id="rId4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png"/><Relationship Id="rId4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png"/><Relationship Id="rId4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png"/><Relationship Id="rId4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png"/><Relationship Id="rId4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png"/><Relationship Id="rId4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png"/><Relationship Id="rId4" Type="http://schemas.openxmlformats.org/officeDocument/2006/relationships/notesSlide" Target="../notesSlides/notesSlide7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5852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2000" b="1" i="0">
                <a:solidFill>
                  <a:srgbClr val="000000"/>
                </a:solidFill>
                <a:latin typeface="Arial"/>
              </a:rPr>
              <a:t>XXVIII Jornada d'Educació Matemàtica ABEAM</a:t>
            </a:r>
          </a:p>
          <a:p>
            <a:pPr>
              <a:spcAft>
                <a:spcPts val="400"/>
              </a:spcAft>
            </a:pPr>
            <a:r>
              <a:rPr sz="1600" b="0" i="1">
                <a:solidFill>
                  <a:srgbClr val="000000"/>
                </a:solidFill>
                <a:latin typeface="Arial"/>
              </a:rPr>
              <a:t>Matemàtiques per a tothom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7 de novembre de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6400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0" i="0">
                <a:solidFill>
                  <a:srgbClr val="0000FF"/>
                </a:solidFill>
                <a:latin typeface="Arial"/>
              </a:rPr>
              <a:t>Elaborar material per a SIEI usant la 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15768"/>
            <a:ext cx="4023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00"/>
              </a:spcAft>
            </a:pPr>
            <a:r>
              <a:rPr sz="1600" b="1" i="0">
                <a:solidFill>
                  <a:srgbClr val="23393A"/>
                </a:solidFill>
                <a:latin typeface="Arial"/>
              </a:rPr>
              <a:t>David Arso Civil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23393A"/>
                </a:solidFill>
                <a:latin typeface="Arial"/>
              </a:rPr>
              <a:t>darso@instarradell.cat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23393A"/>
                </a:solidFill>
                <a:latin typeface="Arial"/>
              </a:rPr>
              <a:t>INS Miquel Tarradell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23393A"/>
                </a:solidFill>
                <a:latin typeface="Arial"/>
              </a:rPr>
              <a:t>Barri del Raval, Barcelona</a:t>
            </a:r>
          </a:p>
        </p:txBody>
      </p:sp>
      <p:pic>
        <p:nvPicPr>
          <p:cNvPr id="5" name="Picture 4" descr="ab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5385" y="329184"/>
            <a:ext cx="1732940" cy="758952"/>
          </a:xfrm>
          <a:prstGeom prst="rect">
            <a:avLst/>
          </a:prstGeom>
        </p:spPr>
      </p:pic>
      <p:pic>
        <p:nvPicPr>
          <p:cNvPr id="6" name="Picture 5" descr="porta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2088" y="1237590"/>
            <a:ext cx="1298448" cy="355071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45720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 i="1">
                <a:solidFill>
                  <a:srgbClr val="666666"/>
                </a:solidFill>
                <a:latin typeface="Arial"/>
              </a:rPr>
              <a:t>Matemàtiques per a tothom</a:t>
            </a:r>
          </a:p>
        </p:txBody>
      </p:sp>
      <p:pic>
        <p:nvPicPr>
          <p:cNvPr id="3" name="Picture 2" descr="ab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110896"/>
            <a:ext cx="1143000" cy="500583"/>
          </a:xfrm>
          <a:prstGeom prst="rect">
            <a:avLst/>
          </a:prstGeom>
        </p:spPr>
      </p:pic>
      <p:pic>
        <p:nvPicPr>
          <p:cNvPr id="4" name="Picture 3" descr="figura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283131"/>
            <a:ext cx="868680" cy="165462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051560" y="731520"/>
            <a:ext cx="7818120" cy="4206240"/>
          </a:xfrm>
          <a:prstGeom prst="roundRect">
            <a:avLst>
              <a:gd name="adj" fmla="val 6000"/>
            </a:avLst>
          </a:prstGeom>
          <a:solidFill>
            <a:srgbClr val="EF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868680"/>
            <a:ext cx="7269480" cy="6126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000000"/>
                </a:solidFill>
                <a:latin typeface="Arial"/>
              </a:rPr>
              <a:t>Una aplicació de matemàtiques per a un alumne de 4t d'ESO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-men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39" y="137160"/>
            <a:ext cx="8656320" cy="4869180"/>
          </a:xfrm>
          <a:prstGeom prst="rect">
            <a:avLst/>
          </a:prstGeom>
          <a:ln w="9525">
            <a:solidFill>
              <a:srgbClr val="8A9A9B"/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45720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 i="1">
                <a:solidFill>
                  <a:srgbClr val="666666"/>
                </a:solidFill>
                <a:latin typeface="Arial"/>
              </a:rPr>
              <a:t>Matemàtiques per a tothom</a:t>
            </a:r>
          </a:p>
        </p:txBody>
      </p:sp>
      <p:pic>
        <p:nvPicPr>
          <p:cNvPr id="3" name="Picture 2" descr="ab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110896"/>
            <a:ext cx="1143000" cy="500583"/>
          </a:xfrm>
          <a:prstGeom prst="rect">
            <a:avLst/>
          </a:prstGeom>
        </p:spPr>
      </p:pic>
      <p:pic>
        <p:nvPicPr>
          <p:cNvPr id="4" name="Picture 3" descr="figura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283131"/>
            <a:ext cx="868680" cy="165462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051560" y="731520"/>
            <a:ext cx="7818120" cy="4206240"/>
          </a:xfrm>
          <a:prstGeom prst="roundRect">
            <a:avLst>
              <a:gd name="adj" fmla="val 6000"/>
            </a:avLst>
          </a:prstGeom>
          <a:solidFill>
            <a:srgbClr val="EF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868680"/>
            <a:ext cx="7269480" cy="6126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000000"/>
                </a:solidFill>
                <a:latin typeface="Arial"/>
              </a:rPr>
              <a:t>Una aplicació de matemàtiques per a un alumne de 4t d'ESO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664208"/>
            <a:ext cx="6537960" cy="31363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Aft>
                <a:spcPts val="960"/>
              </a:spcAft>
              <a:buNone/>
            </a:pPr>
            <a:r>
              <a:rPr sz="2400" b="0" i="0">
                <a:solidFill>
                  <a:srgbClr val="23393A"/>
                </a:solidFill>
                <a:latin typeface="Arial"/>
              </a:rPr>
              <a:t>Feta amb IA en 2 minuts.</a:t>
            </a:r>
          </a:p>
          <a:p>
            <a:pPr marL="0" indent="0">
              <a:lnSpc>
                <a:spcPct val="105000"/>
              </a:lnSpc>
              <a:spcAft>
                <a:spcPts val="960"/>
              </a:spcAft>
              <a:buNone/>
            </a:pPr>
            <a:r>
              <a:rPr sz="2400" b="0" i="0">
                <a:solidFill>
                  <a:srgbClr val="23393A"/>
                </a:solidFill>
                <a:latin typeface="Arial"/>
              </a:rPr>
              <a:t>La faríeu servir?</a:t>
            </a:r>
          </a:p>
          <a:p>
            <a:pPr marL="0" indent="0">
              <a:lnSpc>
                <a:spcPct val="105000"/>
              </a:lnSpc>
              <a:spcAft>
                <a:spcPts val="960"/>
              </a:spcAft>
              <a:buNone/>
            </a:pPr>
            <a:r>
              <a:rPr sz="2400" b="0" i="0">
                <a:solidFill>
                  <a:srgbClr val="23393A"/>
                </a:solidFill>
                <a:latin typeface="Arial"/>
              </a:rPr>
              <a:t>Web 1 (</a:t>
            </a:r>
            <a:r>
              <a:rPr sz="2400" b="0" i="0" u="sng">
                <a:solidFill>
                  <a:srgbClr val="0000FF"/>
                </a:solidFill>
                <a:latin typeface="Arial"/>
                <a:hlinkClick r:id="rId4"/>
              </a:rPr>
              <a:t>enllaç</a:t>
            </a:r>
            <a:r>
              <a:rPr sz="2400" b="0" i="0">
                <a:solidFill>
                  <a:srgbClr val="23393A"/>
                </a:solidFill>
                <a:latin typeface="Arial"/>
              </a:rPr>
              <a:t>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45720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 i="1">
                <a:solidFill>
                  <a:srgbClr val="666666"/>
                </a:solidFill>
                <a:latin typeface="Arial"/>
              </a:rPr>
              <a:t>Matemàtiques per a tothom</a:t>
            </a:r>
          </a:p>
        </p:txBody>
      </p:sp>
      <p:pic>
        <p:nvPicPr>
          <p:cNvPr id="3" name="Picture 2" descr="ab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110896"/>
            <a:ext cx="1143000" cy="500583"/>
          </a:xfrm>
          <a:prstGeom prst="rect">
            <a:avLst/>
          </a:prstGeom>
        </p:spPr>
      </p:pic>
      <p:pic>
        <p:nvPicPr>
          <p:cNvPr id="4" name="Picture 3" descr="figura-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851910"/>
            <a:ext cx="868680" cy="108585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051560" y="731520"/>
            <a:ext cx="7818120" cy="4206240"/>
          </a:xfrm>
          <a:prstGeom prst="roundRect">
            <a:avLst>
              <a:gd name="adj" fmla="val 6000"/>
            </a:avLst>
          </a:prstGeom>
          <a:solidFill>
            <a:srgbClr val="EF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868680"/>
            <a:ext cx="7269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000000"/>
                </a:solidFill>
                <a:latin typeface="Arial"/>
              </a:rPr>
              <a:t>Exemple A: la feina feta en 2 minuts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45720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 i="1">
                <a:solidFill>
                  <a:srgbClr val="666666"/>
                </a:solidFill>
                <a:latin typeface="Arial"/>
              </a:rPr>
              <a:t>Matemàtiques per a tothom</a:t>
            </a:r>
          </a:p>
        </p:txBody>
      </p:sp>
      <p:pic>
        <p:nvPicPr>
          <p:cNvPr id="3" name="Picture 2" descr="ab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110896"/>
            <a:ext cx="1143000" cy="500583"/>
          </a:xfrm>
          <a:prstGeom prst="rect">
            <a:avLst/>
          </a:prstGeom>
        </p:spPr>
      </p:pic>
      <p:pic>
        <p:nvPicPr>
          <p:cNvPr id="4" name="Picture 3" descr="figura-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851910"/>
            <a:ext cx="868680" cy="108585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051560" y="731520"/>
            <a:ext cx="7818120" cy="4206240"/>
          </a:xfrm>
          <a:prstGeom prst="roundRect">
            <a:avLst>
              <a:gd name="adj" fmla="val 6000"/>
            </a:avLst>
          </a:prstGeom>
          <a:solidFill>
            <a:srgbClr val="EF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868680"/>
            <a:ext cx="7269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000000"/>
                </a:solidFill>
                <a:latin typeface="Arial"/>
              </a:rPr>
              <a:t>Exemple A: la feina feta en 2 minuts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463039"/>
            <a:ext cx="6537960" cy="3337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Aft>
                <a:spcPts val="960"/>
              </a:spcAft>
              <a:buNone/>
            </a:pPr>
            <a:r>
              <a:rPr sz="2400" b="0" i="0">
                <a:solidFill>
                  <a:srgbClr val="23393A"/>
                </a:solidFill>
                <a:latin typeface="Arial"/>
              </a:rPr>
              <a:t>Provem-la com ho faria l'alumne.</a:t>
            </a:r>
          </a:p>
          <a:p>
            <a:pPr marL="0" indent="0">
              <a:lnSpc>
                <a:spcPct val="105000"/>
              </a:lnSpc>
              <a:spcAft>
                <a:spcPts val="960"/>
              </a:spcAft>
              <a:buNone/>
            </a:pPr>
            <a:r>
              <a:rPr sz="2400" b="0" i="0">
                <a:solidFill>
                  <a:srgbClr val="23393A"/>
                </a:solidFill>
                <a:latin typeface="Arial"/>
              </a:rPr>
              <a:t>Web 1 (</a:t>
            </a:r>
            <a:r>
              <a:rPr sz="2400" b="0" i="0" u="sng">
                <a:solidFill>
                  <a:srgbClr val="0000FF"/>
                </a:solidFill>
                <a:latin typeface="Arial"/>
                <a:hlinkClick r:id="rId4"/>
              </a:rPr>
              <a:t>enllaç</a:t>
            </a:r>
            <a:r>
              <a:rPr sz="2400" b="0" i="0">
                <a:solidFill>
                  <a:srgbClr val="23393A"/>
                </a:solidFill>
                <a:latin typeface="Arial"/>
              </a:rPr>
              <a:t>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45720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 i="1">
                <a:solidFill>
                  <a:srgbClr val="666666"/>
                </a:solidFill>
                <a:latin typeface="Arial"/>
              </a:rPr>
              <a:t>Matemàtiques per a tothom</a:t>
            </a:r>
          </a:p>
        </p:txBody>
      </p:sp>
      <p:pic>
        <p:nvPicPr>
          <p:cNvPr id="3" name="Picture 2" descr="ab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110896"/>
            <a:ext cx="1143000" cy="500583"/>
          </a:xfrm>
          <a:prstGeom prst="rect">
            <a:avLst/>
          </a:prstGeom>
        </p:spPr>
      </p:pic>
      <p:pic>
        <p:nvPicPr>
          <p:cNvPr id="4" name="Picture 3" descr="figura-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4167793"/>
            <a:ext cx="868680" cy="76996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051560" y="731520"/>
            <a:ext cx="7818120" cy="4206240"/>
          </a:xfrm>
          <a:prstGeom prst="roundRect">
            <a:avLst>
              <a:gd name="adj" fmla="val 6000"/>
            </a:avLst>
          </a:prstGeom>
          <a:solidFill>
            <a:srgbClr val="EF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868680"/>
            <a:ext cx="7269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000000"/>
                </a:solidFill>
                <a:latin typeface="Arial"/>
              </a:rPr>
              <a:t>Exemple A: el que trobes en 5 minuts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45720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 i="1">
                <a:solidFill>
                  <a:srgbClr val="666666"/>
                </a:solidFill>
                <a:latin typeface="Arial"/>
              </a:rPr>
              <a:t>Matemàtiques per a tothom</a:t>
            </a:r>
          </a:p>
        </p:txBody>
      </p:sp>
      <p:pic>
        <p:nvPicPr>
          <p:cNvPr id="3" name="Picture 2" descr="ab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110896"/>
            <a:ext cx="1143000" cy="500583"/>
          </a:xfrm>
          <a:prstGeom prst="rect">
            <a:avLst/>
          </a:prstGeom>
        </p:spPr>
      </p:pic>
      <p:pic>
        <p:nvPicPr>
          <p:cNvPr id="4" name="Picture 3" descr="figura-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4167793"/>
            <a:ext cx="868680" cy="76996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051560" y="731520"/>
            <a:ext cx="7818120" cy="4206240"/>
          </a:xfrm>
          <a:prstGeom prst="roundRect">
            <a:avLst>
              <a:gd name="adj" fmla="val 6000"/>
            </a:avLst>
          </a:prstGeom>
          <a:solidFill>
            <a:srgbClr val="EF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868680"/>
            <a:ext cx="7269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000000"/>
                </a:solidFill>
                <a:latin typeface="Arial"/>
              </a:rPr>
              <a:t>Exemple A: el que trobes en 5 minuts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463039"/>
            <a:ext cx="6537960" cy="3337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335280" indent="-335280">
              <a:lnSpc>
                <a:spcPct val="105000"/>
              </a:lnSpc>
              <a:spcAft>
                <a:spcPts val="960"/>
              </a:spcAft>
              <a:buClr>
                <a:srgbClr val="6B4FBB"/>
              </a:buClr>
              <a:buFont typeface="Arial"/>
              <a:buChar char="•"/>
            </a:pPr>
            <a:r>
              <a:rPr sz="2400" b="0" i="0">
                <a:solidFill>
                  <a:srgbClr val="23393A"/>
                </a:solidFill>
                <a:latin typeface="Arial"/>
              </a:rPr>
              <a:t>Encerta un exercici i prem 12 vegades: progrés del 150 %.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-progres-150-per-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39" y="137160"/>
            <a:ext cx="8656320" cy="4869180"/>
          </a:xfrm>
          <a:prstGeom prst="rect">
            <a:avLst/>
          </a:prstGeom>
          <a:ln w="9525">
            <a:solidFill>
              <a:srgbClr val="8A9A9B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45720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 i="1">
                <a:solidFill>
                  <a:srgbClr val="666666"/>
                </a:solidFill>
                <a:latin typeface="Arial"/>
              </a:rPr>
              <a:t>Matemàtiques per a tothom</a:t>
            </a:r>
          </a:p>
        </p:txBody>
      </p:sp>
      <p:pic>
        <p:nvPicPr>
          <p:cNvPr id="3" name="Picture 2" descr="ab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110896"/>
            <a:ext cx="1143000" cy="500583"/>
          </a:xfrm>
          <a:prstGeom prst="rect">
            <a:avLst/>
          </a:prstGeom>
        </p:spPr>
      </p:pic>
      <p:pic>
        <p:nvPicPr>
          <p:cNvPr id="4" name="Picture 3" descr="figura-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4167793"/>
            <a:ext cx="868680" cy="76996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051560" y="731520"/>
            <a:ext cx="7818120" cy="4206240"/>
          </a:xfrm>
          <a:prstGeom prst="roundRect">
            <a:avLst>
              <a:gd name="adj" fmla="val 6000"/>
            </a:avLst>
          </a:prstGeom>
          <a:solidFill>
            <a:srgbClr val="EF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868680"/>
            <a:ext cx="7269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000000"/>
                </a:solidFill>
                <a:latin typeface="Arial"/>
              </a:rPr>
              <a:t>Exemple A: el que trobes en 5 minuts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463039"/>
            <a:ext cx="6537960" cy="3337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335280" indent="-335280">
              <a:lnSpc>
                <a:spcPct val="105000"/>
              </a:lnSpc>
              <a:spcAft>
                <a:spcPts val="960"/>
              </a:spcAft>
              <a:buClr>
                <a:srgbClr val="6B4FBB"/>
              </a:buClr>
              <a:buFont typeface="Arial"/>
              <a:buChar char="•"/>
            </a:pPr>
            <a:r>
              <a:rPr sz="2400" b="0" i="0">
                <a:solidFill>
                  <a:srgbClr val="23393A"/>
                </a:solidFill>
                <a:latin typeface="Arial"/>
              </a:rPr>
              <a:t>Encerta un exercici i prem 12 vegades: progrés del 150 %.</a:t>
            </a:r>
          </a:p>
          <a:p>
            <a:pPr marL="335280" indent="-335280">
              <a:lnSpc>
                <a:spcPct val="105000"/>
              </a:lnSpc>
              <a:spcAft>
                <a:spcPts val="960"/>
              </a:spcAft>
              <a:buClr>
                <a:srgbClr val="6B4FBB"/>
              </a:buClr>
              <a:buFont typeface="Arial"/>
              <a:buChar char="•"/>
            </a:pPr>
            <a:r>
              <a:rPr sz="2400" b="0" i="0">
                <a:solidFill>
                  <a:srgbClr val="23393A"/>
                </a:solidFill>
                <a:latin typeface="Arial"/>
              </a:rPr>
              <a:t>La calculadora diu que 12 ÷ 4 = 3.00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-calculadora-3.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39" y="137160"/>
            <a:ext cx="8656320" cy="4869180"/>
          </a:xfrm>
          <a:prstGeom prst="rect">
            <a:avLst/>
          </a:prstGeom>
          <a:ln w="9525">
            <a:solidFill>
              <a:srgbClr val="8A9A9B"/>
            </a:solidFill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45720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 i="1">
                <a:solidFill>
                  <a:srgbClr val="666666"/>
                </a:solidFill>
                <a:latin typeface="Arial"/>
              </a:rPr>
              <a:t>Matemàtiques per a tothom</a:t>
            </a:r>
          </a:p>
        </p:txBody>
      </p:sp>
      <p:pic>
        <p:nvPicPr>
          <p:cNvPr id="3" name="Picture 2" descr="ab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110896"/>
            <a:ext cx="1143000" cy="500583"/>
          </a:xfrm>
          <a:prstGeom prst="rect">
            <a:avLst/>
          </a:prstGeom>
        </p:spPr>
      </p:pic>
      <p:pic>
        <p:nvPicPr>
          <p:cNvPr id="4" name="Picture 3" descr="figura-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4167793"/>
            <a:ext cx="868680" cy="76996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051560" y="731520"/>
            <a:ext cx="7818120" cy="4206240"/>
          </a:xfrm>
          <a:prstGeom prst="roundRect">
            <a:avLst>
              <a:gd name="adj" fmla="val 6000"/>
            </a:avLst>
          </a:prstGeom>
          <a:solidFill>
            <a:srgbClr val="EF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868680"/>
            <a:ext cx="7269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000000"/>
                </a:solidFill>
                <a:latin typeface="Arial"/>
              </a:rPr>
              <a:t>Exemple A: el que trobes en 5 minuts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463039"/>
            <a:ext cx="6537960" cy="3337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335280" indent="-335280">
              <a:lnSpc>
                <a:spcPct val="105000"/>
              </a:lnSpc>
              <a:spcAft>
                <a:spcPts val="960"/>
              </a:spcAft>
              <a:buClr>
                <a:srgbClr val="6B4FBB"/>
              </a:buClr>
              <a:buFont typeface="Arial"/>
              <a:buChar char="•"/>
            </a:pPr>
            <a:r>
              <a:rPr sz="2400" b="0" i="0">
                <a:solidFill>
                  <a:srgbClr val="23393A"/>
                </a:solidFill>
                <a:latin typeface="Arial"/>
              </a:rPr>
              <a:t>Encerta un exercici i prem 12 vegades: progrés del 150 %.</a:t>
            </a:r>
          </a:p>
          <a:p>
            <a:pPr marL="335280" indent="-335280">
              <a:lnSpc>
                <a:spcPct val="105000"/>
              </a:lnSpc>
              <a:spcAft>
                <a:spcPts val="960"/>
              </a:spcAft>
              <a:buClr>
                <a:srgbClr val="6B4FBB"/>
              </a:buClr>
              <a:buFont typeface="Arial"/>
              <a:buChar char="•"/>
            </a:pPr>
            <a:r>
              <a:rPr sz="2400" b="0" i="0">
                <a:solidFill>
                  <a:srgbClr val="23393A"/>
                </a:solidFill>
                <a:latin typeface="Arial"/>
              </a:rPr>
              <a:t>La calculadora diu que 12 ÷ 4 = 3.00</a:t>
            </a:r>
          </a:p>
          <a:p>
            <a:pPr marL="335280" indent="-335280">
              <a:lnSpc>
                <a:spcPct val="105000"/>
              </a:lnSpc>
              <a:spcAft>
                <a:spcPts val="960"/>
              </a:spcAft>
              <a:buClr>
                <a:srgbClr val="6B4FBB"/>
              </a:buClr>
              <a:buFont typeface="Arial"/>
              <a:buChar char="•"/>
            </a:pPr>
            <a:r>
              <a:rPr sz="2400" b="0" i="0">
                <a:solidFill>
                  <a:srgbClr val="23393A"/>
                </a:solidFill>
                <a:latin typeface="Arial"/>
              </a:rPr>
              <a:t>La solució surt escrita abans de respondre.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-percentatges-sense-correcc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39" y="137160"/>
            <a:ext cx="8656320" cy="4869180"/>
          </a:xfrm>
          <a:prstGeom prst="rect">
            <a:avLst/>
          </a:prstGeom>
          <a:ln w="9525">
            <a:solidFill>
              <a:srgbClr val="8A9A9B"/>
            </a:solidFill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45720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 i="1">
                <a:solidFill>
                  <a:srgbClr val="666666"/>
                </a:solidFill>
                <a:latin typeface="Arial"/>
              </a:rPr>
              <a:t>Matemàtiques per a tothom</a:t>
            </a:r>
          </a:p>
        </p:txBody>
      </p:sp>
      <p:pic>
        <p:nvPicPr>
          <p:cNvPr id="3" name="Picture 2" descr="ab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110896"/>
            <a:ext cx="1143000" cy="500583"/>
          </a:xfrm>
          <a:prstGeom prst="rect">
            <a:avLst/>
          </a:prstGeom>
        </p:spPr>
      </p:pic>
      <p:pic>
        <p:nvPicPr>
          <p:cNvPr id="4" name="Picture 3" descr="figura-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4167793"/>
            <a:ext cx="868680" cy="76996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051560" y="731520"/>
            <a:ext cx="7818120" cy="4206240"/>
          </a:xfrm>
          <a:prstGeom prst="roundRect">
            <a:avLst>
              <a:gd name="adj" fmla="val 6000"/>
            </a:avLst>
          </a:prstGeom>
          <a:solidFill>
            <a:srgbClr val="EF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868680"/>
            <a:ext cx="7269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000000"/>
                </a:solidFill>
                <a:latin typeface="Arial"/>
              </a:rPr>
              <a:t>Exemple A: el que trobes en 5 minuts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463039"/>
            <a:ext cx="6537960" cy="3337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335280" indent="-335280">
              <a:lnSpc>
                <a:spcPct val="105000"/>
              </a:lnSpc>
              <a:spcAft>
                <a:spcPts val="960"/>
              </a:spcAft>
              <a:buClr>
                <a:srgbClr val="6B4FBB"/>
              </a:buClr>
              <a:buFont typeface="Arial"/>
              <a:buChar char="•"/>
            </a:pPr>
            <a:r>
              <a:rPr sz="2400" b="0" i="0">
                <a:solidFill>
                  <a:srgbClr val="23393A"/>
                </a:solidFill>
                <a:latin typeface="Arial"/>
              </a:rPr>
              <a:t>Encerta un exercici i prem 12 vegades: progrés del 150 %.</a:t>
            </a:r>
          </a:p>
          <a:p>
            <a:pPr marL="335280" indent="-335280">
              <a:lnSpc>
                <a:spcPct val="105000"/>
              </a:lnSpc>
              <a:spcAft>
                <a:spcPts val="960"/>
              </a:spcAft>
              <a:buClr>
                <a:srgbClr val="6B4FBB"/>
              </a:buClr>
              <a:buFont typeface="Arial"/>
              <a:buChar char="•"/>
            </a:pPr>
            <a:r>
              <a:rPr sz="2400" b="0" i="0">
                <a:solidFill>
                  <a:srgbClr val="23393A"/>
                </a:solidFill>
                <a:latin typeface="Arial"/>
              </a:rPr>
              <a:t>La calculadora diu que 12 ÷ 4 = 3.00</a:t>
            </a:r>
          </a:p>
          <a:p>
            <a:pPr marL="335280" indent="-335280">
              <a:lnSpc>
                <a:spcPct val="105000"/>
              </a:lnSpc>
              <a:spcAft>
                <a:spcPts val="960"/>
              </a:spcAft>
              <a:buClr>
                <a:srgbClr val="6B4FBB"/>
              </a:buClr>
              <a:buFont typeface="Arial"/>
              <a:buChar char="•"/>
            </a:pPr>
            <a:r>
              <a:rPr sz="2400" b="0" i="0">
                <a:solidFill>
                  <a:srgbClr val="23393A"/>
                </a:solidFill>
                <a:latin typeface="Arial"/>
              </a:rPr>
              <a:t>La solució surt escrita abans de respondre.</a:t>
            </a:r>
          </a:p>
          <a:p>
            <a:pPr marL="335280" indent="-335280">
              <a:lnSpc>
                <a:spcPct val="105000"/>
              </a:lnSpc>
              <a:spcAft>
                <a:spcPts val="960"/>
              </a:spcAft>
              <a:buClr>
                <a:srgbClr val="6B4FBB"/>
              </a:buClr>
              <a:buFont typeface="Arial"/>
              <a:buChar char="•"/>
            </a:pPr>
            <a:r>
              <a:rPr sz="2400" b="0" i="0">
                <a:solidFill>
                  <a:srgbClr val="23393A"/>
                </a:solidFill>
                <a:latin typeface="Arial"/>
              </a:rPr>
              <a:t>Un cronòmetre per a un alumne amb TEA.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-exercicis-amb-cronomet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39" y="137160"/>
            <a:ext cx="8656320" cy="4869180"/>
          </a:xfrm>
          <a:prstGeom prst="rect">
            <a:avLst/>
          </a:prstGeom>
          <a:ln w="9525">
            <a:solidFill>
              <a:srgbClr val="8A9A9B"/>
            </a:solidFill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45720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 i="1">
                <a:solidFill>
                  <a:srgbClr val="666666"/>
                </a:solidFill>
                <a:latin typeface="Arial"/>
              </a:rPr>
              <a:t>Matemàtiques per a tothom</a:t>
            </a:r>
          </a:p>
        </p:txBody>
      </p:sp>
      <p:pic>
        <p:nvPicPr>
          <p:cNvPr id="3" name="Picture 2" descr="ab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110896"/>
            <a:ext cx="1143000" cy="500583"/>
          </a:xfrm>
          <a:prstGeom prst="rect">
            <a:avLst/>
          </a:prstGeom>
        </p:spPr>
      </p:pic>
      <p:pic>
        <p:nvPicPr>
          <p:cNvPr id="4" name="Picture 3" descr="figura-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4167793"/>
            <a:ext cx="868680" cy="76996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051560" y="731520"/>
            <a:ext cx="7818120" cy="4206240"/>
          </a:xfrm>
          <a:prstGeom prst="roundRect">
            <a:avLst>
              <a:gd name="adj" fmla="val 6000"/>
            </a:avLst>
          </a:prstGeom>
          <a:solidFill>
            <a:srgbClr val="EF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868680"/>
            <a:ext cx="7269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000000"/>
                </a:solidFill>
                <a:latin typeface="Arial"/>
              </a:rPr>
              <a:t>Exemple A: el que trobes en 5 minuts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463039"/>
            <a:ext cx="6537960" cy="3337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335280" indent="-335280">
              <a:lnSpc>
                <a:spcPct val="105000"/>
              </a:lnSpc>
              <a:spcAft>
                <a:spcPts val="960"/>
              </a:spcAft>
              <a:buClr>
                <a:srgbClr val="6B4FBB"/>
              </a:buClr>
              <a:buFont typeface="Arial"/>
              <a:buChar char="•"/>
            </a:pPr>
            <a:r>
              <a:rPr sz="2400" b="0" i="0">
                <a:solidFill>
                  <a:srgbClr val="23393A"/>
                </a:solidFill>
                <a:latin typeface="Arial"/>
              </a:rPr>
              <a:t>Encerta un exercici i prem 12 vegades: progrés del 150 %.</a:t>
            </a:r>
          </a:p>
          <a:p>
            <a:pPr marL="335280" indent="-335280">
              <a:lnSpc>
                <a:spcPct val="105000"/>
              </a:lnSpc>
              <a:spcAft>
                <a:spcPts val="960"/>
              </a:spcAft>
              <a:buClr>
                <a:srgbClr val="6B4FBB"/>
              </a:buClr>
              <a:buFont typeface="Arial"/>
              <a:buChar char="•"/>
            </a:pPr>
            <a:r>
              <a:rPr sz="2400" b="0" i="0">
                <a:solidFill>
                  <a:srgbClr val="23393A"/>
                </a:solidFill>
                <a:latin typeface="Arial"/>
              </a:rPr>
              <a:t>La calculadora diu que 12 ÷ 4 = 3.00</a:t>
            </a:r>
          </a:p>
          <a:p>
            <a:pPr marL="335280" indent="-335280">
              <a:lnSpc>
                <a:spcPct val="105000"/>
              </a:lnSpc>
              <a:spcAft>
                <a:spcPts val="960"/>
              </a:spcAft>
              <a:buClr>
                <a:srgbClr val="6B4FBB"/>
              </a:buClr>
              <a:buFont typeface="Arial"/>
              <a:buChar char="•"/>
            </a:pPr>
            <a:r>
              <a:rPr sz="2400" b="0" i="0">
                <a:solidFill>
                  <a:srgbClr val="23393A"/>
                </a:solidFill>
                <a:latin typeface="Arial"/>
              </a:rPr>
              <a:t>La solució surt escrita abans de respondre.</a:t>
            </a:r>
          </a:p>
          <a:p>
            <a:pPr marL="335280" indent="-335280">
              <a:lnSpc>
                <a:spcPct val="105000"/>
              </a:lnSpc>
              <a:spcAft>
                <a:spcPts val="960"/>
              </a:spcAft>
              <a:buClr>
                <a:srgbClr val="6B4FBB"/>
              </a:buClr>
              <a:buFont typeface="Arial"/>
              <a:buChar char="•"/>
            </a:pPr>
            <a:r>
              <a:rPr sz="2400" b="0" i="0">
                <a:solidFill>
                  <a:srgbClr val="23393A"/>
                </a:solidFill>
                <a:latin typeface="Arial"/>
              </a:rPr>
              <a:t>Un cronòmetre per a un alumne amb TEA.</a:t>
            </a:r>
          </a:p>
          <a:p>
            <a:pPr marL="335280" indent="-335280">
              <a:lnSpc>
                <a:spcPct val="105000"/>
              </a:lnSpc>
              <a:spcAft>
                <a:spcPts val="960"/>
              </a:spcAft>
              <a:buClr>
                <a:srgbClr val="6B4FBB"/>
              </a:buClr>
              <a:buFont typeface="Arial"/>
              <a:buChar char="•"/>
            </a:pPr>
            <a:r>
              <a:rPr sz="2400" b="0" i="0">
                <a:solidFill>
                  <a:srgbClr val="23393A"/>
                </a:solidFill>
                <a:latin typeface="Arial"/>
              </a:rPr>
              <a:t>Contingut de primària: 5 + 3 = 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45720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 i="1">
                <a:solidFill>
                  <a:srgbClr val="666666"/>
                </a:solidFill>
                <a:latin typeface="Arial"/>
              </a:rPr>
              <a:t>Matemàtiques per a tothom</a:t>
            </a:r>
          </a:p>
        </p:txBody>
      </p:sp>
      <p:pic>
        <p:nvPicPr>
          <p:cNvPr id="3" name="Picture 2" descr="ab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110896"/>
            <a:ext cx="1143000" cy="500583"/>
          </a:xfrm>
          <a:prstGeom prst="rect">
            <a:avLst/>
          </a:prstGeom>
        </p:spPr>
      </p:pic>
      <p:pic>
        <p:nvPicPr>
          <p:cNvPr id="4" name="Picture 3" descr="figura-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39" y="4262120"/>
            <a:ext cx="868680" cy="6756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051560" y="731520"/>
            <a:ext cx="7818120" cy="4206240"/>
          </a:xfrm>
          <a:prstGeom prst="roundRect">
            <a:avLst>
              <a:gd name="adj" fmla="val 6000"/>
            </a:avLst>
          </a:prstGeom>
          <a:solidFill>
            <a:srgbClr val="EF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868680"/>
            <a:ext cx="7269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000000"/>
                </a:solidFill>
                <a:latin typeface="Arial"/>
              </a:rPr>
              <a:t>Exemple B: la IA pensa més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-men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39" y="137160"/>
            <a:ext cx="8656320" cy="4869180"/>
          </a:xfrm>
          <a:prstGeom prst="rect">
            <a:avLst/>
          </a:prstGeom>
          <a:ln w="9525">
            <a:solidFill>
              <a:srgbClr val="8A9A9B"/>
            </a:solidFill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45720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 i="1">
                <a:solidFill>
                  <a:srgbClr val="666666"/>
                </a:solidFill>
                <a:latin typeface="Arial"/>
              </a:rPr>
              <a:t>Matemàtiques per a tothom</a:t>
            </a:r>
          </a:p>
        </p:txBody>
      </p:sp>
      <p:pic>
        <p:nvPicPr>
          <p:cNvPr id="3" name="Picture 2" descr="ab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110896"/>
            <a:ext cx="1143000" cy="500583"/>
          </a:xfrm>
          <a:prstGeom prst="rect">
            <a:avLst/>
          </a:prstGeom>
        </p:spPr>
      </p:pic>
      <p:pic>
        <p:nvPicPr>
          <p:cNvPr id="4" name="Picture 3" descr="figura-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39" y="4262120"/>
            <a:ext cx="868680" cy="6756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051560" y="731520"/>
            <a:ext cx="7818120" cy="4206240"/>
          </a:xfrm>
          <a:prstGeom prst="roundRect">
            <a:avLst>
              <a:gd name="adj" fmla="val 6000"/>
            </a:avLst>
          </a:prstGeom>
          <a:solidFill>
            <a:srgbClr val="EF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868680"/>
            <a:ext cx="7269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000000"/>
                </a:solidFill>
                <a:latin typeface="Arial"/>
              </a:rPr>
              <a:t>Exemple B: la IA pensa més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463039"/>
            <a:ext cx="6537960" cy="3337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335280" indent="-335280">
              <a:lnSpc>
                <a:spcPct val="105000"/>
              </a:lnSpc>
              <a:spcAft>
                <a:spcPts val="960"/>
              </a:spcAft>
              <a:buClr>
                <a:srgbClr val="6B4FBB"/>
              </a:buClr>
              <a:buFont typeface="Arial"/>
              <a:buChar char="•"/>
            </a:pPr>
            <a:r>
              <a:rPr sz="2400" b="0" i="0">
                <a:solidFill>
                  <a:srgbClr val="23393A"/>
                </a:solidFill>
                <a:latin typeface="Arial"/>
              </a:rPr>
              <a:t>Lletra gran. Botó de pausa. Sense cronòmetre.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45720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 i="1">
                <a:solidFill>
                  <a:srgbClr val="666666"/>
                </a:solidFill>
                <a:latin typeface="Arial"/>
              </a:rPr>
              <a:t>Matemàtiques per a tothom</a:t>
            </a:r>
          </a:p>
        </p:txBody>
      </p:sp>
      <p:pic>
        <p:nvPicPr>
          <p:cNvPr id="3" name="Picture 2" descr="ab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110896"/>
            <a:ext cx="1143000" cy="500583"/>
          </a:xfrm>
          <a:prstGeom prst="rect">
            <a:avLst/>
          </a:prstGeom>
        </p:spPr>
      </p:pic>
      <p:pic>
        <p:nvPicPr>
          <p:cNvPr id="4" name="Picture 3" descr="figura-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39" y="4262120"/>
            <a:ext cx="868680" cy="6756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051560" y="731520"/>
            <a:ext cx="7818120" cy="4206240"/>
          </a:xfrm>
          <a:prstGeom prst="roundRect">
            <a:avLst>
              <a:gd name="adj" fmla="val 6000"/>
            </a:avLst>
          </a:prstGeom>
          <a:solidFill>
            <a:srgbClr val="EF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868680"/>
            <a:ext cx="7269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000000"/>
                </a:solidFill>
                <a:latin typeface="Arial"/>
              </a:rPr>
              <a:t>Exemple B: la IA pensa més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463039"/>
            <a:ext cx="6537960" cy="3337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335280" indent="-335280">
              <a:lnSpc>
                <a:spcPct val="105000"/>
              </a:lnSpc>
              <a:spcAft>
                <a:spcPts val="960"/>
              </a:spcAft>
              <a:buClr>
                <a:srgbClr val="6B4FBB"/>
              </a:buClr>
              <a:buFont typeface="Arial"/>
              <a:buChar char="•"/>
            </a:pPr>
            <a:r>
              <a:rPr sz="2400" b="0" i="0">
                <a:solidFill>
                  <a:srgbClr val="23393A"/>
                </a:solidFill>
                <a:latin typeface="Arial"/>
              </a:rPr>
              <a:t>Lletra gran. Botó de pausa. Sense cronòmetre.</a:t>
            </a:r>
          </a:p>
          <a:p>
            <a:pPr marL="335280" indent="-335280">
              <a:lnSpc>
                <a:spcPct val="105000"/>
              </a:lnSpc>
              <a:spcAft>
                <a:spcPts val="960"/>
              </a:spcAft>
              <a:buClr>
                <a:srgbClr val="6B4FBB"/>
              </a:buClr>
              <a:buFont typeface="Arial"/>
              <a:buChar char="•"/>
            </a:pPr>
            <a:r>
              <a:rPr sz="2400" b="0" i="0">
                <a:solidFill>
                  <a:srgbClr val="23393A"/>
                </a:solidFill>
                <a:latin typeface="Arial"/>
              </a:rPr>
              <a:t>Dos intents i, després, la solució pas a pas.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-pas-a-pas-despres-de-dos-err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39" y="137160"/>
            <a:ext cx="8656320" cy="4869180"/>
          </a:xfrm>
          <a:prstGeom prst="rect">
            <a:avLst/>
          </a:prstGeom>
          <a:ln w="9525">
            <a:solidFill>
              <a:srgbClr val="8A9A9B"/>
            </a:solidFill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45720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 i="1">
                <a:solidFill>
                  <a:srgbClr val="666666"/>
                </a:solidFill>
                <a:latin typeface="Arial"/>
              </a:rPr>
              <a:t>Matemàtiques per a tothom</a:t>
            </a:r>
          </a:p>
        </p:txBody>
      </p:sp>
      <p:pic>
        <p:nvPicPr>
          <p:cNvPr id="3" name="Picture 2" descr="ab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110896"/>
            <a:ext cx="1143000" cy="500583"/>
          </a:xfrm>
          <a:prstGeom prst="rect">
            <a:avLst/>
          </a:prstGeom>
        </p:spPr>
      </p:pic>
      <p:pic>
        <p:nvPicPr>
          <p:cNvPr id="4" name="Picture 3" descr="figura-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39" y="4262120"/>
            <a:ext cx="868680" cy="6756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051560" y="731520"/>
            <a:ext cx="7818120" cy="4206240"/>
          </a:xfrm>
          <a:prstGeom prst="roundRect">
            <a:avLst>
              <a:gd name="adj" fmla="val 6000"/>
            </a:avLst>
          </a:prstGeom>
          <a:solidFill>
            <a:srgbClr val="EF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868680"/>
            <a:ext cx="7269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000000"/>
                </a:solidFill>
                <a:latin typeface="Arial"/>
              </a:rPr>
              <a:t>Exemple B: la IA pensa més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463039"/>
            <a:ext cx="6537960" cy="3337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335280" indent="-335280">
              <a:lnSpc>
                <a:spcPct val="105000"/>
              </a:lnSpc>
              <a:spcAft>
                <a:spcPts val="960"/>
              </a:spcAft>
              <a:buClr>
                <a:srgbClr val="6B4FBB"/>
              </a:buClr>
              <a:buFont typeface="Arial"/>
              <a:buChar char="•"/>
            </a:pPr>
            <a:r>
              <a:rPr sz="2400" b="0" i="0">
                <a:solidFill>
                  <a:srgbClr val="23393A"/>
                </a:solidFill>
                <a:latin typeface="Arial"/>
              </a:rPr>
              <a:t>Lletra gran. Botó de pausa. Sense cronòmetre.</a:t>
            </a:r>
          </a:p>
          <a:p>
            <a:pPr marL="335280" indent="-335280">
              <a:lnSpc>
                <a:spcPct val="105000"/>
              </a:lnSpc>
              <a:spcAft>
                <a:spcPts val="960"/>
              </a:spcAft>
              <a:buClr>
                <a:srgbClr val="6B4FBB"/>
              </a:buClr>
              <a:buFont typeface="Arial"/>
              <a:buChar char="•"/>
            </a:pPr>
            <a:r>
              <a:rPr sz="2400" b="0" i="0">
                <a:solidFill>
                  <a:srgbClr val="23393A"/>
                </a:solidFill>
                <a:latin typeface="Arial"/>
              </a:rPr>
              <a:t>Dos intents i, després, la solució pas a pas.</a:t>
            </a:r>
          </a:p>
          <a:p>
            <a:pPr marL="0" indent="0">
              <a:lnSpc>
                <a:spcPct val="105000"/>
              </a:lnSpc>
              <a:spcAft>
                <a:spcPts val="960"/>
              </a:spcAft>
              <a:buNone/>
            </a:pPr>
            <a:r>
              <a:rPr sz="2400" b="1" i="0">
                <a:solidFill>
                  <a:srgbClr val="6B4FBB"/>
                </a:solidFill>
                <a:latin typeface="Arial"/>
              </a:rPr>
              <a:t>Sembla bona.</a:t>
            </a:r>
          </a:p>
          <a:p>
            <a:pPr marL="0" indent="0">
              <a:lnSpc>
                <a:spcPct val="105000"/>
              </a:lnSpc>
              <a:spcAft>
                <a:spcPts val="960"/>
              </a:spcAft>
              <a:buNone/>
            </a:pPr>
            <a:r>
              <a:rPr sz="2400" b="1" i="0">
                <a:solidFill>
                  <a:srgbClr val="6B4FBB"/>
                </a:solidFill>
                <a:latin typeface="Arial"/>
              </a:rPr>
              <a:t>Per això és més perillosa.</a:t>
            </a:r>
          </a:p>
          <a:p>
            <a:pPr marL="0" indent="0">
              <a:lnSpc>
                <a:spcPct val="105000"/>
              </a:lnSpc>
              <a:spcAft>
                <a:spcPts val="960"/>
              </a:spcAft>
              <a:buNone/>
            </a:pPr>
            <a:r>
              <a:rPr sz="2400" b="0" i="0">
                <a:solidFill>
                  <a:srgbClr val="23393A"/>
                </a:solidFill>
                <a:latin typeface="Arial"/>
              </a:rPr>
              <a:t>Web 2 (</a:t>
            </a:r>
            <a:r>
              <a:rPr sz="2400" b="0" i="0" u="sng">
                <a:solidFill>
                  <a:srgbClr val="0000FF"/>
                </a:solidFill>
                <a:latin typeface="Arial"/>
                <a:hlinkClick r:id="rId4"/>
              </a:rPr>
              <a:t>enllaç</a:t>
            </a:r>
            <a:r>
              <a:rPr sz="2400" b="0" i="0">
                <a:solidFill>
                  <a:srgbClr val="23393A"/>
                </a:solidFill>
                <a:latin typeface="Arial"/>
              </a:rPr>
              <a:t>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45720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 i="1">
                <a:solidFill>
                  <a:srgbClr val="666666"/>
                </a:solidFill>
                <a:latin typeface="Arial"/>
              </a:rPr>
              <a:t>Matemàtiques per a tothom</a:t>
            </a:r>
          </a:p>
        </p:txBody>
      </p:sp>
      <p:pic>
        <p:nvPicPr>
          <p:cNvPr id="3" name="Picture 2" descr="ab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110896"/>
            <a:ext cx="1143000" cy="500583"/>
          </a:xfrm>
          <a:prstGeom prst="rect">
            <a:avLst/>
          </a:prstGeom>
        </p:spPr>
      </p:pic>
      <p:pic>
        <p:nvPicPr>
          <p:cNvPr id="4" name="Picture 3" descr="figura-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4371229"/>
            <a:ext cx="868680" cy="56653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051560" y="731520"/>
            <a:ext cx="7818120" cy="4206240"/>
          </a:xfrm>
          <a:prstGeom prst="roundRect">
            <a:avLst>
              <a:gd name="adj" fmla="val 6000"/>
            </a:avLst>
          </a:prstGeom>
          <a:solidFill>
            <a:srgbClr val="EF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868680"/>
            <a:ext cx="7269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000000"/>
                </a:solidFill>
                <a:latin typeface="Arial"/>
              </a:rPr>
              <a:t>Exemple B, amb ulls de docent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45720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 i="1">
                <a:solidFill>
                  <a:srgbClr val="666666"/>
                </a:solidFill>
                <a:latin typeface="Arial"/>
              </a:rPr>
              <a:t>Matemàtiques per a tothom</a:t>
            </a:r>
          </a:p>
        </p:txBody>
      </p:sp>
      <p:pic>
        <p:nvPicPr>
          <p:cNvPr id="3" name="Picture 2" descr="ab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110896"/>
            <a:ext cx="1143000" cy="500583"/>
          </a:xfrm>
          <a:prstGeom prst="rect">
            <a:avLst/>
          </a:prstGeom>
        </p:spPr>
      </p:pic>
      <p:pic>
        <p:nvPicPr>
          <p:cNvPr id="4" name="Picture 3" descr="figura-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4371229"/>
            <a:ext cx="868680" cy="56653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051560" y="731520"/>
            <a:ext cx="7818120" cy="4206240"/>
          </a:xfrm>
          <a:prstGeom prst="roundRect">
            <a:avLst>
              <a:gd name="adj" fmla="val 6000"/>
            </a:avLst>
          </a:prstGeom>
          <a:solidFill>
            <a:srgbClr val="EF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868680"/>
            <a:ext cx="7269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000000"/>
                </a:solidFill>
                <a:latin typeface="Arial"/>
              </a:rPr>
              <a:t>Exemple B, amb ulls de docent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463039"/>
            <a:ext cx="6537960" cy="3337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307340" indent="-307340">
              <a:lnSpc>
                <a:spcPct val="105000"/>
              </a:lnSpc>
              <a:spcAft>
                <a:spcPts val="880"/>
              </a:spcAft>
              <a:buClr>
                <a:srgbClr val="6B4FBB"/>
              </a:buClr>
              <a:buFont typeface="Arial"/>
              <a:buChar char="•"/>
            </a:pPr>
            <a:r>
              <a:rPr sz="2200" b="0" i="0">
                <a:solidFill>
                  <a:srgbClr val="23393A"/>
                </a:solidFill>
                <a:latin typeface="Arial"/>
              </a:rPr>
              <a:t>Cada vegada surten números diferents.</a:t>
            </a:r>
            <a:br/>
            <a:r>
              <a:rPr sz="2200" b="0" i="0">
                <a:solidFill>
                  <a:srgbClr val="23393A"/>
                </a:solidFill>
                <a:latin typeface="Arial"/>
              </a:rPr>
              <a:t>El paper i la pantalla no coincideixen.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45720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 i="1">
                <a:solidFill>
                  <a:srgbClr val="666666"/>
                </a:solidFill>
                <a:latin typeface="Arial"/>
              </a:rPr>
              <a:t>Matemàtiques per a tothom</a:t>
            </a:r>
          </a:p>
        </p:txBody>
      </p:sp>
      <p:pic>
        <p:nvPicPr>
          <p:cNvPr id="3" name="Picture 2" descr="ab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110896"/>
            <a:ext cx="1143000" cy="500583"/>
          </a:xfrm>
          <a:prstGeom prst="rect">
            <a:avLst/>
          </a:prstGeom>
        </p:spPr>
      </p:pic>
      <p:pic>
        <p:nvPicPr>
          <p:cNvPr id="4" name="Picture 3" descr="figura-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4371229"/>
            <a:ext cx="868680" cy="56653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051560" y="731520"/>
            <a:ext cx="7818120" cy="4206240"/>
          </a:xfrm>
          <a:prstGeom prst="roundRect">
            <a:avLst>
              <a:gd name="adj" fmla="val 6000"/>
            </a:avLst>
          </a:prstGeom>
          <a:solidFill>
            <a:srgbClr val="EF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868680"/>
            <a:ext cx="7269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000000"/>
                </a:solidFill>
                <a:latin typeface="Arial"/>
              </a:rPr>
              <a:t>Exemple B, amb ulls de docent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463039"/>
            <a:ext cx="6537960" cy="3337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307340" indent="-307340">
              <a:lnSpc>
                <a:spcPct val="105000"/>
              </a:lnSpc>
              <a:spcAft>
                <a:spcPts val="880"/>
              </a:spcAft>
              <a:buClr>
                <a:srgbClr val="6B4FBB"/>
              </a:buClr>
              <a:buFont typeface="Arial"/>
              <a:buChar char="•"/>
            </a:pPr>
            <a:r>
              <a:rPr sz="2200" b="0" i="0">
                <a:solidFill>
                  <a:srgbClr val="23393A"/>
                </a:solidFill>
                <a:latin typeface="Arial"/>
              </a:rPr>
              <a:t>Cada vegada surten números diferents.</a:t>
            </a:r>
            <a:br/>
            <a:r>
              <a:rPr sz="2200" b="0" i="0">
                <a:solidFill>
                  <a:srgbClr val="23393A"/>
                </a:solidFill>
                <a:latin typeface="Arial"/>
              </a:rPr>
              <a:t>El paper i la pantalla no coincideixen.</a:t>
            </a:r>
          </a:p>
          <a:p>
            <a:pPr marL="307340" indent="-307340">
              <a:lnSpc>
                <a:spcPct val="105000"/>
              </a:lnSpc>
              <a:spcAft>
                <a:spcPts val="880"/>
              </a:spcAft>
              <a:buClr>
                <a:srgbClr val="6B4FBB"/>
              </a:buClr>
              <a:buFont typeface="Arial"/>
              <a:buChar char="•"/>
            </a:pPr>
            <a:r>
              <a:rPr sz="2200" b="0" i="0">
                <a:solidFill>
                  <a:srgbClr val="23393A"/>
                </a:solidFill>
                <a:latin typeface="Arial"/>
              </a:rPr>
              <a:t>El docent no sap què ha fet l'alumne.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45720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 i="1">
                <a:solidFill>
                  <a:srgbClr val="666666"/>
                </a:solidFill>
                <a:latin typeface="Arial"/>
              </a:rPr>
              <a:t>Matemàtiques per a tothom</a:t>
            </a:r>
          </a:p>
        </p:txBody>
      </p:sp>
      <p:pic>
        <p:nvPicPr>
          <p:cNvPr id="3" name="Picture 2" descr="ab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110896"/>
            <a:ext cx="1143000" cy="500583"/>
          </a:xfrm>
          <a:prstGeom prst="rect">
            <a:avLst/>
          </a:prstGeom>
        </p:spPr>
      </p:pic>
      <p:pic>
        <p:nvPicPr>
          <p:cNvPr id="4" name="Picture 3" descr="figura-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4371229"/>
            <a:ext cx="868680" cy="56653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051560" y="731520"/>
            <a:ext cx="7818120" cy="4206240"/>
          </a:xfrm>
          <a:prstGeom prst="roundRect">
            <a:avLst>
              <a:gd name="adj" fmla="val 6000"/>
            </a:avLst>
          </a:prstGeom>
          <a:solidFill>
            <a:srgbClr val="EF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868680"/>
            <a:ext cx="7269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000000"/>
                </a:solidFill>
                <a:latin typeface="Arial"/>
              </a:rPr>
              <a:t>Exemple B, amb ulls de docent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463039"/>
            <a:ext cx="6537960" cy="3337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307340" indent="-307340">
              <a:lnSpc>
                <a:spcPct val="105000"/>
              </a:lnSpc>
              <a:spcAft>
                <a:spcPts val="880"/>
              </a:spcAft>
              <a:buClr>
                <a:srgbClr val="6B4FBB"/>
              </a:buClr>
              <a:buFont typeface="Arial"/>
              <a:buChar char="•"/>
            </a:pPr>
            <a:r>
              <a:rPr sz="2200" b="0" i="0">
                <a:solidFill>
                  <a:srgbClr val="23393A"/>
                </a:solidFill>
                <a:latin typeface="Arial"/>
              </a:rPr>
              <a:t>Cada vegada surten números diferents.</a:t>
            </a:r>
            <a:br/>
            <a:r>
              <a:rPr sz="2200" b="0" i="0">
                <a:solidFill>
                  <a:srgbClr val="23393A"/>
                </a:solidFill>
                <a:latin typeface="Arial"/>
              </a:rPr>
              <a:t>El paper i la pantalla no coincideixen.</a:t>
            </a:r>
          </a:p>
          <a:p>
            <a:pPr marL="307340" indent="-307340">
              <a:lnSpc>
                <a:spcPct val="105000"/>
              </a:lnSpc>
              <a:spcAft>
                <a:spcPts val="880"/>
              </a:spcAft>
              <a:buClr>
                <a:srgbClr val="6B4FBB"/>
              </a:buClr>
              <a:buFont typeface="Arial"/>
              <a:buChar char="•"/>
            </a:pPr>
            <a:r>
              <a:rPr sz="2200" b="0" i="0">
                <a:solidFill>
                  <a:srgbClr val="23393A"/>
                </a:solidFill>
                <a:latin typeface="Arial"/>
              </a:rPr>
              <a:t>El docent no sap què ha fet l'alumne.</a:t>
            </a:r>
          </a:p>
          <a:p>
            <a:pPr marL="307340" indent="-307340">
              <a:lnSpc>
                <a:spcPct val="105000"/>
              </a:lnSpc>
              <a:spcAft>
                <a:spcPts val="880"/>
              </a:spcAft>
              <a:buClr>
                <a:srgbClr val="6B4FBB"/>
              </a:buClr>
              <a:buFont typeface="Arial"/>
              <a:buChar char="•"/>
            </a:pPr>
            <a:r>
              <a:rPr sz="2200" b="0" i="0">
                <a:solidFill>
                  <a:srgbClr val="23393A"/>
                </a:solidFill>
                <a:latin typeface="Arial"/>
              </a:rPr>
              <a:t>Equació 5x + 3 = 13. L'alumne respon 99.</a:t>
            </a:r>
            <a:br/>
            <a:r>
              <a:rPr sz="2200" b="0" i="0">
                <a:solidFill>
                  <a:srgbClr val="23393A"/>
                </a:solidFill>
                <a:latin typeface="Arial"/>
              </a:rPr>
              <a:t>L'aplicació diu: «Gairebé».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-gairebe-amb-resposta-9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39" y="137160"/>
            <a:ext cx="8656320" cy="4869180"/>
          </a:xfrm>
          <a:prstGeom prst="rect">
            <a:avLst/>
          </a:prstGeom>
          <a:ln w="9525">
            <a:solidFill>
              <a:srgbClr val="8A9A9B"/>
            </a:solidFill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45720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 i="1">
                <a:solidFill>
                  <a:srgbClr val="666666"/>
                </a:solidFill>
                <a:latin typeface="Arial"/>
              </a:rPr>
              <a:t>Matemàtiques per a tothom</a:t>
            </a:r>
          </a:p>
        </p:txBody>
      </p:sp>
      <p:pic>
        <p:nvPicPr>
          <p:cNvPr id="3" name="Picture 2" descr="ab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110896"/>
            <a:ext cx="1143000" cy="500583"/>
          </a:xfrm>
          <a:prstGeom prst="rect">
            <a:avLst/>
          </a:prstGeom>
        </p:spPr>
      </p:pic>
      <p:pic>
        <p:nvPicPr>
          <p:cNvPr id="4" name="Picture 3" descr="figura-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4371229"/>
            <a:ext cx="868680" cy="56653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051560" y="731520"/>
            <a:ext cx="7818120" cy="4206240"/>
          </a:xfrm>
          <a:prstGeom prst="roundRect">
            <a:avLst>
              <a:gd name="adj" fmla="val 6000"/>
            </a:avLst>
          </a:prstGeom>
          <a:solidFill>
            <a:srgbClr val="EF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868680"/>
            <a:ext cx="7269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000000"/>
                </a:solidFill>
                <a:latin typeface="Arial"/>
              </a:rPr>
              <a:t>Exemple B, amb ulls de docent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463039"/>
            <a:ext cx="6537960" cy="3337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307340" indent="-307340">
              <a:lnSpc>
                <a:spcPct val="105000"/>
              </a:lnSpc>
              <a:spcAft>
                <a:spcPts val="880"/>
              </a:spcAft>
              <a:buClr>
                <a:srgbClr val="6B4FBB"/>
              </a:buClr>
              <a:buFont typeface="Arial"/>
              <a:buChar char="•"/>
            </a:pPr>
            <a:r>
              <a:rPr sz="2200" b="0" i="0">
                <a:solidFill>
                  <a:srgbClr val="23393A"/>
                </a:solidFill>
                <a:latin typeface="Arial"/>
              </a:rPr>
              <a:t>Cada vegada surten números diferents.</a:t>
            </a:r>
            <a:br/>
            <a:r>
              <a:rPr sz="2200" b="0" i="0">
                <a:solidFill>
                  <a:srgbClr val="23393A"/>
                </a:solidFill>
                <a:latin typeface="Arial"/>
              </a:rPr>
              <a:t>El paper i la pantalla no coincideixen.</a:t>
            </a:r>
          </a:p>
          <a:p>
            <a:pPr marL="307340" indent="-307340">
              <a:lnSpc>
                <a:spcPct val="105000"/>
              </a:lnSpc>
              <a:spcAft>
                <a:spcPts val="880"/>
              </a:spcAft>
              <a:buClr>
                <a:srgbClr val="6B4FBB"/>
              </a:buClr>
              <a:buFont typeface="Arial"/>
              <a:buChar char="•"/>
            </a:pPr>
            <a:r>
              <a:rPr sz="2200" b="0" i="0">
                <a:solidFill>
                  <a:srgbClr val="23393A"/>
                </a:solidFill>
                <a:latin typeface="Arial"/>
              </a:rPr>
              <a:t>El docent no sap què ha fet l'alumne.</a:t>
            </a:r>
          </a:p>
          <a:p>
            <a:pPr marL="307340" indent="-307340">
              <a:lnSpc>
                <a:spcPct val="105000"/>
              </a:lnSpc>
              <a:spcAft>
                <a:spcPts val="880"/>
              </a:spcAft>
              <a:buClr>
                <a:srgbClr val="6B4FBB"/>
              </a:buClr>
              <a:buFont typeface="Arial"/>
              <a:buChar char="•"/>
            </a:pPr>
            <a:r>
              <a:rPr sz="2200" b="0" i="0">
                <a:solidFill>
                  <a:srgbClr val="23393A"/>
                </a:solidFill>
                <a:latin typeface="Arial"/>
              </a:rPr>
              <a:t>Equació 5x + 3 = 13. L'alumne respon 99.</a:t>
            </a:r>
            <a:br/>
            <a:r>
              <a:rPr sz="2200" b="0" i="0">
                <a:solidFill>
                  <a:srgbClr val="23393A"/>
                </a:solidFill>
                <a:latin typeface="Arial"/>
              </a:rPr>
              <a:t>L'aplicació diu: «Gairebé».</a:t>
            </a:r>
          </a:p>
          <a:p>
            <a:pPr marL="307340" indent="-307340">
              <a:lnSpc>
                <a:spcPct val="105000"/>
              </a:lnSpc>
              <a:spcAft>
                <a:spcPts val="880"/>
              </a:spcAft>
              <a:buClr>
                <a:srgbClr val="6B4FBB"/>
              </a:buClr>
              <a:buFont typeface="Arial"/>
              <a:buChar char="•"/>
            </a:pPr>
            <a:r>
              <a:rPr sz="2200" b="0" i="0">
                <a:solidFill>
                  <a:srgbClr val="23393A"/>
                </a:solidFill>
                <a:latin typeface="Arial"/>
              </a:rPr>
              <a:t>Tot el currículum de 4t, de Pitàgores a la probabilitat,</a:t>
            </a:r>
            <a:br/>
            <a:r>
              <a:rPr sz="2200" b="0" i="0">
                <a:solidFill>
                  <a:srgbClr val="23393A"/>
                </a:solidFill>
                <a:latin typeface="Arial"/>
              </a:rPr>
              <a:t>per a 4 hores a la setmana.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45720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 i="1">
                <a:solidFill>
                  <a:srgbClr val="666666"/>
                </a:solidFill>
                <a:latin typeface="Arial"/>
              </a:rPr>
              <a:t>Matemàtiques per a tothom</a:t>
            </a:r>
          </a:p>
        </p:txBody>
      </p:sp>
      <p:pic>
        <p:nvPicPr>
          <p:cNvPr id="3" name="Picture 2" descr="ab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110896"/>
            <a:ext cx="1143000" cy="500583"/>
          </a:xfrm>
          <a:prstGeom prst="rect">
            <a:avLst/>
          </a:prstGeom>
        </p:spPr>
      </p:pic>
      <p:pic>
        <p:nvPicPr>
          <p:cNvPr id="4" name="Picture 3" descr="figura-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4148050"/>
            <a:ext cx="868680" cy="78970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051560" y="731520"/>
            <a:ext cx="7818120" cy="4206240"/>
          </a:xfrm>
          <a:prstGeom prst="roundRect">
            <a:avLst>
              <a:gd name="adj" fmla="val 6000"/>
            </a:avLst>
          </a:prstGeom>
          <a:solidFill>
            <a:srgbClr val="EF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868680"/>
            <a:ext cx="7269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000000"/>
                </a:solidFill>
                <a:latin typeface="Arial"/>
              </a:rPr>
              <a:t>I les fitxes per imprimir?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45720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 i="1">
                <a:solidFill>
                  <a:srgbClr val="666666"/>
                </a:solidFill>
                <a:latin typeface="Arial"/>
              </a:rPr>
              <a:t>Matemàtiques per a tothom</a:t>
            </a:r>
          </a:p>
        </p:txBody>
      </p:sp>
      <p:pic>
        <p:nvPicPr>
          <p:cNvPr id="3" name="Picture 2" descr="ab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110896"/>
            <a:ext cx="1143000" cy="500583"/>
          </a:xfrm>
          <a:prstGeom prst="rect">
            <a:avLst/>
          </a:prstGeom>
        </p:spPr>
      </p:pic>
      <p:pic>
        <p:nvPicPr>
          <p:cNvPr id="4" name="Picture 3" descr="figura-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4148050"/>
            <a:ext cx="868680" cy="78970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051560" y="731520"/>
            <a:ext cx="7818120" cy="4206240"/>
          </a:xfrm>
          <a:prstGeom prst="roundRect">
            <a:avLst>
              <a:gd name="adj" fmla="val 6000"/>
            </a:avLst>
          </a:prstGeom>
          <a:solidFill>
            <a:srgbClr val="EF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868680"/>
            <a:ext cx="7269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000000"/>
                </a:solidFill>
                <a:latin typeface="Arial"/>
              </a:rPr>
              <a:t>I les fitxes per imprimir?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463039"/>
            <a:ext cx="6537960" cy="3337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335280" indent="-335280">
              <a:lnSpc>
                <a:spcPct val="105000"/>
              </a:lnSpc>
              <a:spcAft>
                <a:spcPts val="960"/>
              </a:spcAft>
              <a:buClr>
                <a:srgbClr val="6B4FBB"/>
              </a:buClr>
              <a:buFont typeface="Arial"/>
              <a:buChar char="•"/>
            </a:pPr>
            <a:r>
              <a:rPr sz="2400" b="0" i="0">
                <a:solidFill>
                  <a:srgbClr val="23393A"/>
                </a:solidFill>
                <a:latin typeface="Arial"/>
              </a:rPr>
              <a:t>A: 5 pàgines per a tot el curs.</a:t>
            </a:r>
            <a:br/>
            <a:r>
              <a:rPr sz="2400" b="0" i="0">
                <a:solidFill>
                  <a:srgbClr val="23393A"/>
                </a:solidFill>
                <a:latin typeface="Arial"/>
              </a:rPr>
              <a:t>Lletra de 9 a 11 pt, en color.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txa-A-unita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9180" y="137160"/>
            <a:ext cx="4945638" cy="4869180"/>
          </a:xfrm>
          <a:prstGeom prst="rect">
            <a:avLst/>
          </a:prstGeom>
          <a:ln w="9525">
            <a:solidFill>
              <a:srgbClr val="8A9A9B"/>
            </a:solidFill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45720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 i="1">
                <a:solidFill>
                  <a:srgbClr val="666666"/>
                </a:solidFill>
                <a:latin typeface="Arial"/>
              </a:rPr>
              <a:t>Matemàtiques per a tothom</a:t>
            </a:r>
          </a:p>
        </p:txBody>
      </p:sp>
      <p:pic>
        <p:nvPicPr>
          <p:cNvPr id="3" name="Picture 2" descr="ab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110896"/>
            <a:ext cx="1143000" cy="500583"/>
          </a:xfrm>
          <a:prstGeom prst="rect">
            <a:avLst/>
          </a:prstGeom>
        </p:spPr>
      </p:pic>
      <p:pic>
        <p:nvPicPr>
          <p:cNvPr id="4" name="Picture 3" descr="figura-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4148050"/>
            <a:ext cx="868680" cy="78970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051560" y="731520"/>
            <a:ext cx="7818120" cy="4206240"/>
          </a:xfrm>
          <a:prstGeom prst="roundRect">
            <a:avLst>
              <a:gd name="adj" fmla="val 6000"/>
            </a:avLst>
          </a:prstGeom>
          <a:solidFill>
            <a:srgbClr val="EF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868680"/>
            <a:ext cx="7269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000000"/>
                </a:solidFill>
                <a:latin typeface="Arial"/>
              </a:rPr>
              <a:t>I les fitxes per imprimir?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463039"/>
            <a:ext cx="6537960" cy="3337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335280" indent="-335280">
              <a:lnSpc>
                <a:spcPct val="105000"/>
              </a:lnSpc>
              <a:spcAft>
                <a:spcPts val="960"/>
              </a:spcAft>
              <a:buClr>
                <a:srgbClr val="6B4FBB"/>
              </a:buClr>
              <a:buFont typeface="Arial"/>
              <a:buChar char="•"/>
            </a:pPr>
            <a:r>
              <a:rPr sz="2400" b="0" i="0">
                <a:solidFill>
                  <a:srgbClr val="23393A"/>
                </a:solidFill>
                <a:latin typeface="Arial"/>
              </a:rPr>
              <a:t>A: 5 pàgines per a tot el curs.</a:t>
            </a:r>
            <a:br/>
            <a:r>
              <a:rPr sz="2400" b="0" i="0">
                <a:solidFill>
                  <a:srgbClr val="23393A"/>
                </a:solidFill>
                <a:latin typeface="Arial"/>
              </a:rPr>
              <a:t>Lletra de 9 a 11 pt, en color.</a:t>
            </a:r>
          </a:p>
          <a:p>
            <a:pPr marL="335280" indent="-335280">
              <a:lnSpc>
                <a:spcPct val="105000"/>
              </a:lnSpc>
              <a:spcAft>
                <a:spcPts val="960"/>
              </a:spcAft>
              <a:buClr>
                <a:srgbClr val="6B4FBB"/>
              </a:buClr>
              <a:buFont typeface="Arial"/>
              <a:buChar char="•"/>
            </a:pPr>
            <a:r>
              <a:rPr sz="2400" b="0" i="0">
                <a:solidFill>
                  <a:srgbClr val="23393A"/>
                </a:solidFill>
                <a:latin typeface="Arial"/>
              </a:rPr>
              <a:t>A: la portada diu «DIL» i «TEA».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45720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 i="1">
                <a:solidFill>
                  <a:srgbClr val="666666"/>
                </a:solidFill>
                <a:latin typeface="Arial"/>
              </a:rPr>
              <a:t>Matemàtiques per a tothom</a:t>
            </a:r>
          </a:p>
        </p:txBody>
      </p:sp>
      <p:pic>
        <p:nvPicPr>
          <p:cNvPr id="3" name="Picture 2" descr="ab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110896"/>
            <a:ext cx="1143000" cy="500583"/>
          </a:xfrm>
          <a:prstGeom prst="rect">
            <a:avLst/>
          </a:prstGeom>
        </p:spPr>
      </p:pic>
      <p:pic>
        <p:nvPicPr>
          <p:cNvPr id="4" name="Picture 3" descr="figura-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4148050"/>
            <a:ext cx="868680" cy="78970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051560" y="731520"/>
            <a:ext cx="7818120" cy="4206240"/>
          </a:xfrm>
          <a:prstGeom prst="roundRect">
            <a:avLst>
              <a:gd name="adj" fmla="val 6000"/>
            </a:avLst>
          </a:prstGeom>
          <a:solidFill>
            <a:srgbClr val="EF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868680"/>
            <a:ext cx="7269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000000"/>
                </a:solidFill>
                <a:latin typeface="Arial"/>
              </a:rPr>
              <a:t>I les fitxes per imprimir?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463039"/>
            <a:ext cx="6537960" cy="3337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335280" indent="-335280">
              <a:lnSpc>
                <a:spcPct val="105000"/>
              </a:lnSpc>
              <a:spcAft>
                <a:spcPts val="960"/>
              </a:spcAft>
              <a:buClr>
                <a:srgbClr val="6B4FBB"/>
              </a:buClr>
              <a:buFont typeface="Arial"/>
              <a:buChar char="•"/>
            </a:pPr>
            <a:r>
              <a:rPr sz="2400" b="0" i="0">
                <a:solidFill>
                  <a:srgbClr val="23393A"/>
                </a:solidFill>
                <a:latin typeface="Arial"/>
              </a:rPr>
              <a:t>A: 5 pàgines per a tot el curs.</a:t>
            </a:r>
            <a:br/>
            <a:r>
              <a:rPr sz="2400" b="0" i="0">
                <a:solidFill>
                  <a:srgbClr val="23393A"/>
                </a:solidFill>
                <a:latin typeface="Arial"/>
              </a:rPr>
              <a:t>Lletra de 9 a 11 pt, en color.</a:t>
            </a:r>
          </a:p>
          <a:p>
            <a:pPr marL="335280" indent="-335280">
              <a:lnSpc>
                <a:spcPct val="105000"/>
              </a:lnSpc>
              <a:spcAft>
                <a:spcPts val="960"/>
              </a:spcAft>
              <a:buClr>
                <a:srgbClr val="6B4FBB"/>
              </a:buClr>
              <a:buFont typeface="Arial"/>
              <a:buChar char="•"/>
            </a:pPr>
            <a:r>
              <a:rPr sz="2400" b="0" i="0">
                <a:solidFill>
                  <a:srgbClr val="23393A"/>
                </a:solidFill>
                <a:latin typeface="Arial"/>
              </a:rPr>
              <a:t>A: la portada diu «DIL» i «TEA».</a:t>
            </a:r>
          </a:p>
          <a:p>
            <a:pPr marL="335280" indent="-335280">
              <a:lnSpc>
                <a:spcPct val="105000"/>
              </a:lnSpc>
              <a:spcAft>
                <a:spcPts val="960"/>
              </a:spcAft>
              <a:buClr>
                <a:srgbClr val="6B4FBB"/>
              </a:buClr>
              <a:buFont typeface="Arial"/>
              <a:buChar char="•"/>
            </a:pPr>
            <a:r>
              <a:rPr sz="2400" b="0" i="0">
                <a:solidFill>
                  <a:srgbClr val="23393A"/>
                </a:solidFill>
                <a:latin typeface="Arial"/>
              </a:rPr>
              <a:t>B: 54 pàgines.</a:t>
            </a:r>
            <a:br/>
            <a:r>
              <a:rPr sz="2400" b="0" i="0">
                <a:solidFill>
                  <a:srgbClr val="23393A"/>
                </a:solidFill>
                <a:latin typeface="Arial"/>
              </a:rPr>
              <a:t>Les solucions, dins del quadern de l'alumne.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txa-B-equac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5736" y="137160"/>
            <a:ext cx="3172527" cy="4869180"/>
          </a:xfrm>
          <a:prstGeom prst="rect">
            <a:avLst/>
          </a:prstGeom>
          <a:ln w="9525">
            <a:solidFill>
              <a:srgbClr val="8A9A9B"/>
            </a:solidFill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45720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 i="1">
                <a:solidFill>
                  <a:srgbClr val="666666"/>
                </a:solidFill>
                <a:latin typeface="Arial"/>
              </a:rPr>
              <a:t>Matemàtiques per a tothom</a:t>
            </a:r>
          </a:p>
        </p:txBody>
      </p:sp>
      <p:pic>
        <p:nvPicPr>
          <p:cNvPr id="3" name="Picture 2" descr="ab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110896"/>
            <a:ext cx="1143000" cy="500583"/>
          </a:xfrm>
          <a:prstGeom prst="rect">
            <a:avLst/>
          </a:prstGeom>
        </p:spPr>
      </p:pic>
      <p:pic>
        <p:nvPicPr>
          <p:cNvPr id="4" name="Picture 3" descr="figura-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4333460"/>
            <a:ext cx="868680" cy="60429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051560" y="731520"/>
            <a:ext cx="7818120" cy="4206240"/>
          </a:xfrm>
          <a:prstGeom prst="roundRect">
            <a:avLst>
              <a:gd name="adj" fmla="val 6000"/>
            </a:avLst>
          </a:prstGeom>
          <a:solidFill>
            <a:srgbClr val="EF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868680"/>
            <a:ext cx="7269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000000"/>
                </a:solidFill>
                <a:latin typeface="Arial"/>
              </a:rPr>
              <a:t>La mateixa idea: la balança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txa-B-equac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026" y="137160"/>
            <a:ext cx="3172527" cy="4869180"/>
          </a:xfrm>
          <a:prstGeom prst="rect">
            <a:avLst/>
          </a:prstGeom>
          <a:ln w="9525">
            <a:solidFill>
              <a:srgbClr val="8A9A9B"/>
            </a:solidFill>
          </a:ln>
        </p:spPr>
      </p:pic>
      <p:pic>
        <p:nvPicPr>
          <p:cNvPr id="3" name="Picture 2" descr="fitxa-4t-equac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3713" y="597747"/>
            <a:ext cx="4366259" cy="3948005"/>
          </a:xfrm>
          <a:prstGeom prst="rect">
            <a:avLst/>
          </a:prstGeom>
          <a:ln w="9525">
            <a:solidFill>
              <a:srgbClr val="8A9A9B"/>
            </a:solidFill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45720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 i="1">
                <a:solidFill>
                  <a:srgbClr val="666666"/>
                </a:solidFill>
                <a:latin typeface="Arial"/>
              </a:rPr>
              <a:t>Matemàtiques per a tothom</a:t>
            </a:r>
          </a:p>
        </p:txBody>
      </p:sp>
      <p:pic>
        <p:nvPicPr>
          <p:cNvPr id="3" name="Picture 2" descr="ab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110896"/>
            <a:ext cx="1143000" cy="500583"/>
          </a:xfrm>
          <a:prstGeom prst="rect">
            <a:avLst/>
          </a:prstGeom>
        </p:spPr>
      </p:pic>
      <p:pic>
        <p:nvPicPr>
          <p:cNvPr id="4" name="Picture 3" descr="figura-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4333460"/>
            <a:ext cx="868680" cy="60429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051560" y="731520"/>
            <a:ext cx="7818120" cy="4206240"/>
          </a:xfrm>
          <a:prstGeom prst="roundRect">
            <a:avLst>
              <a:gd name="adj" fmla="val 6000"/>
            </a:avLst>
          </a:prstGeom>
          <a:solidFill>
            <a:srgbClr val="EF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868680"/>
            <a:ext cx="7269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000000"/>
                </a:solidFill>
                <a:latin typeface="Arial"/>
              </a:rPr>
              <a:t>La mateixa idea: la balança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463039"/>
            <a:ext cx="6537960" cy="3337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335280" indent="-335280">
              <a:lnSpc>
                <a:spcPct val="105000"/>
              </a:lnSpc>
              <a:spcAft>
                <a:spcPts val="960"/>
              </a:spcAft>
              <a:buClr>
                <a:srgbClr val="6B4FBB"/>
              </a:buClr>
              <a:buFont typeface="Arial"/>
              <a:buChar char="•"/>
            </a:pPr>
            <a:r>
              <a:rPr sz="2400" b="0" i="0">
                <a:solidFill>
                  <a:srgbClr val="23393A"/>
                </a:solidFill>
                <a:latin typeface="Arial"/>
              </a:rPr>
              <a:t>B: «Una equació és una balança.»</a:t>
            </a:r>
            <a:br/>
            <a:r>
              <a:rPr sz="2400" b="0" i="0">
                <a:solidFill>
                  <a:srgbClr val="23393A"/>
                </a:solidFill>
                <a:latin typeface="Arial"/>
              </a:rPr>
              <a:t>No hi ha cap balança.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45720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 i="1">
                <a:solidFill>
                  <a:srgbClr val="666666"/>
                </a:solidFill>
                <a:latin typeface="Arial"/>
              </a:rPr>
              <a:t>Matemàtiques per a tothom</a:t>
            </a:r>
          </a:p>
        </p:txBody>
      </p:sp>
      <p:pic>
        <p:nvPicPr>
          <p:cNvPr id="3" name="Picture 2" descr="ab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110896"/>
            <a:ext cx="1143000" cy="500583"/>
          </a:xfrm>
          <a:prstGeom prst="rect">
            <a:avLst/>
          </a:prstGeom>
        </p:spPr>
      </p:pic>
      <p:pic>
        <p:nvPicPr>
          <p:cNvPr id="4" name="Picture 3" descr="figura-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4333460"/>
            <a:ext cx="868680" cy="60429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051560" y="731520"/>
            <a:ext cx="7818120" cy="4206240"/>
          </a:xfrm>
          <a:prstGeom prst="roundRect">
            <a:avLst>
              <a:gd name="adj" fmla="val 6000"/>
            </a:avLst>
          </a:prstGeom>
          <a:solidFill>
            <a:srgbClr val="EF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868680"/>
            <a:ext cx="7269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000000"/>
                </a:solidFill>
                <a:latin typeface="Arial"/>
              </a:rPr>
              <a:t>La mateixa idea: la balança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463039"/>
            <a:ext cx="6537960" cy="3337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335280" indent="-335280">
              <a:lnSpc>
                <a:spcPct val="105000"/>
              </a:lnSpc>
              <a:spcAft>
                <a:spcPts val="960"/>
              </a:spcAft>
              <a:buClr>
                <a:srgbClr val="6B4FBB"/>
              </a:buClr>
              <a:buFont typeface="Arial"/>
              <a:buChar char="•"/>
            </a:pPr>
            <a:r>
              <a:rPr sz="2400" b="0" i="0">
                <a:solidFill>
                  <a:srgbClr val="23393A"/>
                </a:solidFill>
                <a:latin typeface="Arial"/>
              </a:rPr>
              <a:t>B: «Una equació és una balança.»</a:t>
            </a:r>
            <a:br/>
            <a:r>
              <a:rPr sz="2400" b="0" i="0">
                <a:solidFill>
                  <a:srgbClr val="23393A"/>
                </a:solidFill>
                <a:latin typeface="Arial"/>
              </a:rPr>
              <a:t>No hi ha cap balança.</a:t>
            </a:r>
          </a:p>
          <a:p>
            <a:pPr marL="335280" indent="-335280">
              <a:lnSpc>
                <a:spcPct val="105000"/>
              </a:lnSpc>
              <a:spcAft>
                <a:spcPts val="960"/>
              </a:spcAft>
              <a:buClr>
                <a:srgbClr val="6B4FBB"/>
              </a:buClr>
              <a:buFont typeface="Arial"/>
              <a:buChar char="•"/>
            </a:pPr>
            <a:r>
              <a:rPr sz="2400" b="0" i="0">
                <a:solidFill>
                  <a:srgbClr val="23393A"/>
                </a:solidFill>
                <a:latin typeface="Arial"/>
              </a:rPr>
              <a:t>Amb el docent: la balança, dibuixada.</a:t>
            </a:r>
            <a:br/>
            <a:r>
              <a:rPr sz="2400" b="0" i="0">
                <a:solidFill>
                  <a:srgbClr val="23393A"/>
                </a:solidFill>
                <a:latin typeface="Arial"/>
              </a:rPr>
              <a:t>Blanc i negre i 14 pt.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45720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 i="1">
                <a:solidFill>
                  <a:srgbClr val="666666"/>
                </a:solidFill>
                <a:latin typeface="Arial"/>
              </a:rPr>
              <a:t>Matemàtiques per a tothom</a:t>
            </a:r>
          </a:p>
        </p:txBody>
      </p:sp>
      <p:pic>
        <p:nvPicPr>
          <p:cNvPr id="3" name="Picture 2" descr="ab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110896"/>
            <a:ext cx="1143000" cy="500583"/>
          </a:xfrm>
          <a:prstGeom prst="rect">
            <a:avLst/>
          </a:prstGeom>
        </p:spPr>
      </p:pic>
      <p:pic>
        <p:nvPicPr>
          <p:cNvPr id="4" name="Picture 3" descr="figura-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4333460"/>
            <a:ext cx="868680" cy="60429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051560" y="731520"/>
            <a:ext cx="7818120" cy="4206240"/>
          </a:xfrm>
          <a:prstGeom prst="roundRect">
            <a:avLst>
              <a:gd name="adj" fmla="val 6000"/>
            </a:avLst>
          </a:prstGeom>
          <a:solidFill>
            <a:srgbClr val="EF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868680"/>
            <a:ext cx="7269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000000"/>
                </a:solidFill>
                <a:latin typeface="Arial"/>
              </a:rPr>
              <a:t>La mateixa idea: la balança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463039"/>
            <a:ext cx="6537960" cy="3337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335280" indent="-335280">
              <a:lnSpc>
                <a:spcPct val="105000"/>
              </a:lnSpc>
              <a:spcAft>
                <a:spcPts val="960"/>
              </a:spcAft>
              <a:buClr>
                <a:srgbClr val="6B4FBB"/>
              </a:buClr>
              <a:buFont typeface="Arial"/>
              <a:buChar char="•"/>
            </a:pPr>
            <a:r>
              <a:rPr sz="2400" b="0" i="0">
                <a:solidFill>
                  <a:srgbClr val="23393A"/>
                </a:solidFill>
                <a:latin typeface="Arial"/>
              </a:rPr>
              <a:t>B: «Una equació és una balança.»</a:t>
            </a:r>
            <a:br/>
            <a:r>
              <a:rPr sz="2400" b="0" i="0">
                <a:solidFill>
                  <a:srgbClr val="23393A"/>
                </a:solidFill>
                <a:latin typeface="Arial"/>
              </a:rPr>
              <a:t>No hi ha cap balança.</a:t>
            </a:r>
          </a:p>
          <a:p>
            <a:pPr marL="335280" indent="-335280">
              <a:lnSpc>
                <a:spcPct val="105000"/>
              </a:lnSpc>
              <a:spcAft>
                <a:spcPts val="960"/>
              </a:spcAft>
              <a:buClr>
                <a:srgbClr val="6B4FBB"/>
              </a:buClr>
              <a:buFont typeface="Arial"/>
              <a:buChar char="•"/>
            </a:pPr>
            <a:r>
              <a:rPr sz="2400" b="0" i="0">
                <a:solidFill>
                  <a:srgbClr val="23393A"/>
                </a:solidFill>
                <a:latin typeface="Arial"/>
              </a:rPr>
              <a:t>Amb el docent: la balança, dibuixada.</a:t>
            </a:r>
            <a:br/>
            <a:r>
              <a:rPr sz="2400" b="0" i="0">
                <a:solidFill>
                  <a:srgbClr val="23393A"/>
                </a:solidFill>
                <a:latin typeface="Arial"/>
              </a:rPr>
              <a:t>Blanc i negre i 14 pt.</a:t>
            </a:r>
          </a:p>
          <a:p>
            <a:pPr marL="0" indent="0">
              <a:lnSpc>
                <a:spcPct val="105000"/>
              </a:lnSpc>
              <a:spcAft>
                <a:spcPts val="960"/>
              </a:spcAft>
              <a:buNone/>
            </a:pPr>
            <a:r>
              <a:rPr sz="2400" b="1" i="0">
                <a:solidFill>
                  <a:srgbClr val="6B4FBB"/>
                </a:solidFill>
                <a:latin typeface="Arial"/>
              </a:rPr>
              <a:t>El dibuix explica.</a:t>
            </a:r>
          </a:p>
          <a:p>
            <a:pPr marL="0" indent="0">
              <a:lnSpc>
                <a:spcPct val="105000"/>
              </a:lnSpc>
              <a:spcAft>
                <a:spcPts val="960"/>
              </a:spcAft>
              <a:buNone/>
            </a:pPr>
            <a:r>
              <a:rPr sz="2400" b="1" i="0">
                <a:solidFill>
                  <a:srgbClr val="6B4FBB"/>
                </a:solidFill>
                <a:latin typeface="Arial"/>
              </a:rPr>
              <a:t>Les paraules només etiqueten.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45720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 i="1">
                <a:solidFill>
                  <a:srgbClr val="666666"/>
                </a:solidFill>
                <a:latin typeface="Arial"/>
              </a:rPr>
              <a:t>Matemàtiques per a tothom</a:t>
            </a:r>
          </a:p>
        </p:txBody>
      </p:sp>
      <p:pic>
        <p:nvPicPr>
          <p:cNvPr id="3" name="Picture 2" descr="ab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110896"/>
            <a:ext cx="1143000" cy="500583"/>
          </a:xfrm>
          <a:prstGeom prst="rect">
            <a:avLst/>
          </a:prstGeom>
        </p:spPr>
      </p:pic>
      <p:pic>
        <p:nvPicPr>
          <p:cNvPr id="4" name="Picture 3" descr="figura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801793"/>
            <a:ext cx="868680" cy="113596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051560" y="731520"/>
            <a:ext cx="7818120" cy="4206240"/>
          </a:xfrm>
          <a:prstGeom prst="roundRect">
            <a:avLst>
              <a:gd name="adj" fmla="val 6000"/>
            </a:avLst>
          </a:prstGeom>
          <a:solidFill>
            <a:srgbClr val="EF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868680"/>
            <a:ext cx="7269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000000"/>
                </a:solidFill>
                <a:latin typeface="Arial"/>
              </a:rPr>
              <a:t>El moment clau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45720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 i="1">
                <a:solidFill>
                  <a:srgbClr val="666666"/>
                </a:solidFill>
                <a:latin typeface="Arial"/>
              </a:rPr>
              <a:t>Matemàtiques per a tothom</a:t>
            </a:r>
          </a:p>
        </p:txBody>
      </p:sp>
      <p:pic>
        <p:nvPicPr>
          <p:cNvPr id="3" name="Picture 2" descr="ab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110896"/>
            <a:ext cx="1143000" cy="500583"/>
          </a:xfrm>
          <a:prstGeom prst="rect">
            <a:avLst/>
          </a:prstGeom>
        </p:spPr>
      </p:pic>
      <p:pic>
        <p:nvPicPr>
          <p:cNvPr id="4" name="Picture 3" descr="figura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801793"/>
            <a:ext cx="868680" cy="113596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051560" y="731520"/>
            <a:ext cx="7818120" cy="4206240"/>
          </a:xfrm>
          <a:prstGeom prst="roundRect">
            <a:avLst>
              <a:gd name="adj" fmla="val 6000"/>
            </a:avLst>
          </a:prstGeom>
          <a:solidFill>
            <a:srgbClr val="EF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868680"/>
            <a:ext cx="7269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000000"/>
                </a:solidFill>
                <a:latin typeface="Arial"/>
              </a:rPr>
              <a:t>El moment clau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463039"/>
            <a:ext cx="6537960" cy="3337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Aft>
                <a:spcPts val="960"/>
              </a:spcAft>
              <a:buNone/>
            </a:pPr>
            <a:r>
              <a:rPr sz="2400" b="0" i="0">
                <a:solidFill>
                  <a:srgbClr val="23393A"/>
                </a:solidFill>
                <a:latin typeface="Arial"/>
              </a:rPr>
              <a:t>La IA va preguntar:</a:t>
            </a:r>
          </a:p>
          <a:p>
            <a:pPr marL="335280" indent="-335280">
              <a:lnSpc>
                <a:spcPct val="105000"/>
              </a:lnSpc>
              <a:spcAft>
                <a:spcPts val="960"/>
              </a:spcAft>
              <a:buClr>
                <a:srgbClr val="6B4FBB"/>
              </a:buClr>
              <a:buFont typeface="Arial"/>
              <a:buChar char="•"/>
            </a:pPr>
            <a:r>
              <a:rPr sz="2400" b="0" i="0">
                <a:solidFill>
                  <a:srgbClr val="23393A"/>
                </a:solidFill>
                <a:latin typeface="Arial"/>
              </a:rPr>
              <a:t>Pot treballar amb percentatges, o millor amb mig i quart?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45720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 i="1">
                <a:solidFill>
                  <a:srgbClr val="666666"/>
                </a:solidFill>
                <a:latin typeface="Arial"/>
              </a:rPr>
              <a:t>Matemàtiques per a tothom</a:t>
            </a:r>
          </a:p>
        </p:txBody>
      </p:sp>
      <p:pic>
        <p:nvPicPr>
          <p:cNvPr id="3" name="Picture 2" descr="ab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110896"/>
            <a:ext cx="1143000" cy="500583"/>
          </a:xfrm>
          <a:prstGeom prst="rect">
            <a:avLst/>
          </a:prstGeom>
        </p:spPr>
      </p:pic>
      <p:pic>
        <p:nvPicPr>
          <p:cNvPr id="4" name="Picture 3" descr="figura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801793"/>
            <a:ext cx="868680" cy="113596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051560" y="731520"/>
            <a:ext cx="7818120" cy="4206240"/>
          </a:xfrm>
          <a:prstGeom prst="roundRect">
            <a:avLst>
              <a:gd name="adj" fmla="val 6000"/>
            </a:avLst>
          </a:prstGeom>
          <a:solidFill>
            <a:srgbClr val="EF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868680"/>
            <a:ext cx="7269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000000"/>
                </a:solidFill>
                <a:latin typeface="Arial"/>
              </a:rPr>
              <a:t>El moment clau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463039"/>
            <a:ext cx="6537960" cy="3337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Aft>
                <a:spcPts val="960"/>
              </a:spcAft>
              <a:buNone/>
            </a:pPr>
            <a:r>
              <a:rPr sz="2400" b="0" i="0">
                <a:solidFill>
                  <a:srgbClr val="23393A"/>
                </a:solidFill>
                <a:latin typeface="Arial"/>
              </a:rPr>
              <a:t>La IA va preguntar:</a:t>
            </a:r>
          </a:p>
          <a:p>
            <a:pPr marL="335280" indent="-335280">
              <a:lnSpc>
                <a:spcPct val="105000"/>
              </a:lnSpc>
              <a:spcAft>
                <a:spcPts val="960"/>
              </a:spcAft>
              <a:buClr>
                <a:srgbClr val="6B4FBB"/>
              </a:buClr>
              <a:buFont typeface="Arial"/>
              <a:buChar char="•"/>
            </a:pPr>
            <a:r>
              <a:rPr sz="2400" b="0" i="0">
                <a:solidFill>
                  <a:srgbClr val="23393A"/>
                </a:solidFill>
                <a:latin typeface="Arial"/>
              </a:rPr>
              <a:t>Pot treballar amb percentatges, o millor amb mig i quart?</a:t>
            </a:r>
          </a:p>
          <a:p>
            <a:pPr marL="335280" indent="-335280">
              <a:lnSpc>
                <a:spcPct val="105000"/>
              </a:lnSpc>
              <a:spcAft>
                <a:spcPts val="960"/>
              </a:spcAft>
              <a:buClr>
                <a:srgbClr val="6B4FBB"/>
              </a:buClr>
              <a:buFont typeface="Arial"/>
              <a:buChar char="•"/>
            </a:pPr>
            <a:r>
              <a:rPr sz="2400" b="0" i="0">
                <a:solidFill>
                  <a:srgbClr val="23393A"/>
                </a:solidFill>
                <a:latin typeface="Arial"/>
              </a:rPr>
              <a:t>Preferiu pictogrames o fotos de monedes?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45720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 i="1">
                <a:solidFill>
                  <a:srgbClr val="666666"/>
                </a:solidFill>
                <a:latin typeface="Arial"/>
              </a:rPr>
              <a:t>Matemàtiques per a tothom</a:t>
            </a:r>
          </a:p>
        </p:txBody>
      </p:sp>
      <p:pic>
        <p:nvPicPr>
          <p:cNvPr id="3" name="Picture 2" descr="ab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110896"/>
            <a:ext cx="1143000" cy="500583"/>
          </a:xfrm>
          <a:prstGeom prst="rect">
            <a:avLst/>
          </a:prstGeom>
        </p:spPr>
      </p:pic>
      <p:pic>
        <p:nvPicPr>
          <p:cNvPr id="4" name="Picture 3" descr="figura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801793"/>
            <a:ext cx="868680" cy="113596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051560" y="731520"/>
            <a:ext cx="7818120" cy="4206240"/>
          </a:xfrm>
          <a:prstGeom prst="roundRect">
            <a:avLst>
              <a:gd name="adj" fmla="val 6000"/>
            </a:avLst>
          </a:prstGeom>
          <a:solidFill>
            <a:srgbClr val="EF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868680"/>
            <a:ext cx="7269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000000"/>
                </a:solidFill>
                <a:latin typeface="Arial"/>
              </a:rPr>
              <a:t>El moment clau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463039"/>
            <a:ext cx="6537960" cy="3337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Aft>
                <a:spcPts val="960"/>
              </a:spcAft>
              <a:buNone/>
            </a:pPr>
            <a:r>
              <a:rPr sz="2400" b="0" i="0">
                <a:solidFill>
                  <a:srgbClr val="23393A"/>
                </a:solidFill>
                <a:latin typeface="Arial"/>
              </a:rPr>
              <a:t>La IA va preguntar:</a:t>
            </a:r>
          </a:p>
          <a:p>
            <a:pPr marL="335280" indent="-335280">
              <a:lnSpc>
                <a:spcPct val="105000"/>
              </a:lnSpc>
              <a:spcAft>
                <a:spcPts val="960"/>
              </a:spcAft>
              <a:buClr>
                <a:srgbClr val="6B4FBB"/>
              </a:buClr>
              <a:buFont typeface="Arial"/>
              <a:buChar char="•"/>
            </a:pPr>
            <a:r>
              <a:rPr sz="2400" b="0" i="0">
                <a:solidFill>
                  <a:srgbClr val="23393A"/>
                </a:solidFill>
                <a:latin typeface="Arial"/>
              </a:rPr>
              <a:t>Pot treballar amb percentatges, o millor amb mig i quart?</a:t>
            </a:r>
          </a:p>
          <a:p>
            <a:pPr marL="335280" indent="-335280">
              <a:lnSpc>
                <a:spcPct val="105000"/>
              </a:lnSpc>
              <a:spcAft>
                <a:spcPts val="960"/>
              </a:spcAft>
              <a:buClr>
                <a:srgbClr val="6B4FBB"/>
              </a:buClr>
              <a:buFont typeface="Arial"/>
              <a:buChar char="•"/>
            </a:pPr>
            <a:r>
              <a:rPr sz="2400" b="0" i="0">
                <a:solidFill>
                  <a:srgbClr val="23393A"/>
                </a:solidFill>
                <a:latin typeface="Arial"/>
              </a:rPr>
              <a:t>Preferiu pictogrames o fotos de monedes?</a:t>
            </a:r>
          </a:p>
          <a:p>
            <a:pPr marL="335280" indent="-335280">
              <a:lnSpc>
                <a:spcPct val="105000"/>
              </a:lnSpc>
              <a:spcAft>
                <a:spcPts val="960"/>
              </a:spcAft>
              <a:buClr>
                <a:srgbClr val="6B4FBB"/>
              </a:buClr>
              <a:buFont typeface="Arial"/>
              <a:buChar char="•"/>
            </a:pPr>
            <a:r>
              <a:rPr sz="2400" b="0" i="0">
                <a:solidFill>
                  <a:srgbClr val="23393A"/>
                </a:solidFill>
                <a:latin typeface="Arial"/>
              </a:rPr>
              <a:t>Em passes els objectius del seu PI?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45720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 i="1">
                <a:solidFill>
                  <a:srgbClr val="666666"/>
                </a:solidFill>
                <a:latin typeface="Arial"/>
              </a:rPr>
              <a:t>Matemàtiques per a tothom</a:t>
            </a:r>
          </a:p>
        </p:txBody>
      </p:sp>
      <p:pic>
        <p:nvPicPr>
          <p:cNvPr id="3" name="Picture 2" descr="ab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110896"/>
            <a:ext cx="1143000" cy="500583"/>
          </a:xfrm>
          <a:prstGeom prst="rect">
            <a:avLst/>
          </a:prstGeom>
        </p:spPr>
      </p:pic>
      <p:pic>
        <p:nvPicPr>
          <p:cNvPr id="4" name="Picture 3" descr="figura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801793"/>
            <a:ext cx="868680" cy="113596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051560" y="731520"/>
            <a:ext cx="7818120" cy="4206240"/>
          </a:xfrm>
          <a:prstGeom prst="roundRect">
            <a:avLst>
              <a:gd name="adj" fmla="val 6000"/>
            </a:avLst>
          </a:prstGeom>
          <a:solidFill>
            <a:srgbClr val="EF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868680"/>
            <a:ext cx="7269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000000"/>
                </a:solidFill>
                <a:latin typeface="Arial"/>
              </a:rPr>
              <a:t>El moment clau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463039"/>
            <a:ext cx="6537960" cy="3337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Aft>
                <a:spcPts val="960"/>
              </a:spcAft>
              <a:buNone/>
            </a:pPr>
            <a:r>
              <a:rPr sz="2400" b="0" i="0">
                <a:solidFill>
                  <a:srgbClr val="23393A"/>
                </a:solidFill>
                <a:latin typeface="Arial"/>
              </a:rPr>
              <a:t>La IA va preguntar:</a:t>
            </a:r>
          </a:p>
          <a:p>
            <a:pPr marL="335280" indent="-335280">
              <a:lnSpc>
                <a:spcPct val="105000"/>
              </a:lnSpc>
              <a:spcAft>
                <a:spcPts val="960"/>
              </a:spcAft>
              <a:buClr>
                <a:srgbClr val="6B4FBB"/>
              </a:buClr>
              <a:buFont typeface="Arial"/>
              <a:buChar char="•"/>
            </a:pPr>
            <a:r>
              <a:rPr sz="2400" b="0" i="0">
                <a:solidFill>
                  <a:srgbClr val="23393A"/>
                </a:solidFill>
                <a:latin typeface="Arial"/>
              </a:rPr>
              <a:t>Pot treballar amb percentatges, o millor amb mig i quart?</a:t>
            </a:r>
          </a:p>
          <a:p>
            <a:pPr marL="335280" indent="-335280">
              <a:lnSpc>
                <a:spcPct val="105000"/>
              </a:lnSpc>
              <a:spcAft>
                <a:spcPts val="960"/>
              </a:spcAft>
              <a:buClr>
                <a:srgbClr val="6B4FBB"/>
              </a:buClr>
              <a:buFont typeface="Arial"/>
              <a:buChar char="•"/>
            </a:pPr>
            <a:r>
              <a:rPr sz="2400" b="0" i="0">
                <a:solidFill>
                  <a:srgbClr val="23393A"/>
                </a:solidFill>
                <a:latin typeface="Arial"/>
              </a:rPr>
              <a:t>Preferiu pictogrames o fotos de monedes?</a:t>
            </a:r>
          </a:p>
          <a:p>
            <a:pPr marL="335280" indent="-335280">
              <a:lnSpc>
                <a:spcPct val="105000"/>
              </a:lnSpc>
              <a:spcAft>
                <a:spcPts val="960"/>
              </a:spcAft>
              <a:buClr>
                <a:srgbClr val="6B4FBB"/>
              </a:buClr>
              <a:buFont typeface="Arial"/>
              <a:buChar char="•"/>
            </a:pPr>
            <a:r>
              <a:rPr sz="2400" b="0" i="0">
                <a:solidFill>
                  <a:srgbClr val="23393A"/>
                </a:solidFill>
                <a:latin typeface="Arial"/>
              </a:rPr>
              <a:t>Em passes els objectius del seu PI?</a:t>
            </a:r>
          </a:p>
          <a:p>
            <a:pPr marL="0" indent="0">
              <a:lnSpc>
                <a:spcPct val="105000"/>
              </a:lnSpc>
              <a:spcAft>
                <a:spcPts val="960"/>
              </a:spcAft>
              <a:buNone/>
            </a:pPr>
            <a:r>
              <a:rPr sz="2400" b="1" i="0">
                <a:solidFill>
                  <a:srgbClr val="6B4FBB"/>
                </a:solidFill>
                <a:latin typeface="Arial"/>
              </a:rPr>
              <a:t>La resposta va ser:</a:t>
            </a:r>
          </a:p>
          <a:p>
            <a:pPr marL="0" indent="0">
              <a:lnSpc>
                <a:spcPct val="105000"/>
              </a:lnSpc>
              <a:spcAft>
                <a:spcPts val="960"/>
              </a:spcAft>
              <a:buNone/>
            </a:pPr>
            <a:r>
              <a:rPr sz="2400" b="1" i="0">
                <a:solidFill>
                  <a:srgbClr val="6B4FBB"/>
                </a:solidFill>
                <a:latin typeface="Arial"/>
              </a:rPr>
              <a:t>«Fes tot el recobriment del currículum.»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45720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 i="1">
                <a:solidFill>
                  <a:srgbClr val="666666"/>
                </a:solidFill>
                <a:latin typeface="Arial"/>
              </a:rPr>
              <a:t>Matemàtiques per a tothom</a:t>
            </a:r>
          </a:p>
        </p:txBody>
      </p:sp>
      <p:pic>
        <p:nvPicPr>
          <p:cNvPr id="3" name="Picture 2" descr="ab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110896"/>
            <a:ext cx="1143000" cy="500583"/>
          </a:xfrm>
          <a:prstGeom prst="rect">
            <a:avLst/>
          </a:prstGeom>
        </p:spPr>
      </p:pic>
      <p:pic>
        <p:nvPicPr>
          <p:cNvPr id="4" name="Picture 3" descr="figura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283131"/>
            <a:ext cx="868680" cy="165462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051560" y="731520"/>
            <a:ext cx="7818120" cy="4206240"/>
          </a:xfrm>
          <a:prstGeom prst="roundRect">
            <a:avLst>
              <a:gd name="adj" fmla="val 6000"/>
            </a:avLst>
          </a:prstGeom>
          <a:solidFill>
            <a:srgbClr val="EF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868680"/>
            <a:ext cx="7269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000000"/>
                </a:solidFill>
                <a:latin typeface="Arial"/>
              </a:rPr>
              <a:t>Amb el docent dins del bucle: 4 setmanes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45720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 i="1">
                <a:solidFill>
                  <a:srgbClr val="666666"/>
                </a:solidFill>
                <a:latin typeface="Arial"/>
              </a:rPr>
              <a:t>Matemàtiques per a tothom</a:t>
            </a:r>
          </a:p>
        </p:txBody>
      </p:sp>
      <p:pic>
        <p:nvPicPr>
          <p:cNvPr id="3" name="Picture 2" descr="ab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110896"/>
            <a:ext cx="1143000" cy="500583"/>
          </a:xfrm>
          <a:prstGeom prst="rect">
            <a:avLst/>
          </a:prstGeom>
        </p:spPr>
      </p:pic>
      <p:pic>
        <p:nvPicPr>
          <p:cNvPr id="4" name="Picture 3" descr="figura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283131"/>
            <a:ext cx="868680" cy="165462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051560" y="731520"/>
            <a:ext cx="7818120" cy="4206240"/>
          </a:xfrm>
          <a:prstGeom prst="roundRect">
            <a:avLst>
              <a:gd name="adj" fmla="val 6000"/>
            </a:avLst>
          </a:prstGeom>
          <a:solidFill>
            <a:srgbClr val="EF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868680"/>
            <a:ext cx="7269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000000"/>
                </a:solidFill>
                <a:latin typeface="Arial"/>
              </a:rPr>
              <a:t>Amb el docent dins del bucle: 4 setmanes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463039"/>
            <a:ext cx="6537960" cy="3337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Aft>
                <a:spcPts val="960"/>
              </a:spcAft>
              <a:buNone/>
            </a:pPr>
            <a:r>
              <a:rPr sz="2400" b="0" i="0">
                <a:solidFill>
                  <a:srgbClr val="23393A"/>
                </a:solidFill>
                <a:latin typeface="Arial"/>
              </a:rPr>
              <a:t>Història 1: la primera fitxa tenia 700 paraules.</a:t>
            </a:r>
          </a:p>
          <a:p>
            <a:pPr marL="0" indent="0">
              <a:lnSpc>
                <a:spcPct val="105000"/>
              </a:lnSpc>
              <a:spcAft>
                <a:spcPts val="960"/>
              </a:spcAft>
              <a:buNone/>
            </a:pPr>
            <a:r>
              <a:rPr sz="2400" b="0" i="0">
                <a:solidFill>
                  <a:srgbClr val="23393A"/>
                </a:solidFill>
                <a:latin typeface="Arial"/>
              </a:rPr>
              <a:t>El docent: «L'alumne no la podrà llegir.»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d1-4t-pagina-a-pag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800" y="137160"/>
            <a:ext cx="7606399" cy="4869180"/>
          </a:xfrm>
          <a:prstGeom prst="rect">
            <a:avLst/>
          </a:prstGeom>
          <a:ln w="9525">
            <a:solidFill>
              <a:srgbClr val="8A9A9B"/>
            </a:solidFill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45720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 i="1">
                <a:solidFill>
                  <a:srgbClr val="666666"/>
                </a:solidFill>
                <a:latin typeface="Arial"/>
              </a:rPr>
              <a:t>Matemàtiques per a tothom</a:t>
            </a:r>
          </a:p>
        </p:txBody>
      </p:sp>
      <p:pic>
        <p:nvPicPr>
          <p:cNvPr id="3" name="Picture 2" descr="ab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110896"/>
            <a:ext cx="1143000" cy="500583"/>
          </a:xfrm>
          <a:prstGeom prst="rect">
            <a:avLst/>
          </a:prstGeom>
        </p:spPr>
      </p:pic>
      <p:pic>
        <p:nvPicPr>
          <p:cNvPr id="4" name="Picture 3" descr="figura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283131"/>
            <a:ext cx="868680" cy="165462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051560" y="731520"/>
            <a:ext cx="7818120" cy="4206240"/>
          </a:xfrm>
          <a:prstGeom prst="roundRect">
            <a:avLst>
              <a:gd name="adj" fmla="val 6000"/>
            </a:avLst>
          </a:prstGeom>
          <a:solidFill>
            <a:srgbClr val="EF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868680"/>
            <a:ext cx="7269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000000"/>
                </a:solidFill>
                <a:latin typeface="Arial"/>
              </a:rPr>
              <a:t>Amb el docent dins del bucle: 4 setmanes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463039"/>
            <a:ext cx="6537960" cy="3337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Aft>
                <a:spcPts val="960"/>
              </a:spcAft>
              <a:buNone/>
            </a:pPr>
            <a:r>
              <a:rPr sz="2400" b="0" i="0">
                <a:solidFill>
                  <a:srgbClr val="23393A"/>
                </a:solidFill>
                <a:latin typeface="Arial"/>
              </a:rPr>
              <a:t>Història 1: la primera fitxa tenia 700 paraules.</a:t>
            </a:r>
          </a:p>
          <a:p>
            <a:pPr marL="0" indent="0">
              <a:lnSpc>
                <a:spcPct val="105000"/>
              </a:lnSpc>
              <a:spcAft>
                <a:spcPts val="960"/>
              </a:spcAft>
              <a:buNone/>
            </a:pPr>
            <a:r>
              <a:rPr sz="2400" b="0" i="0">
                <a:solidFill>
                  <a:srgbClr val="23393A"/>
                </a:solidFill>
                <a:latin typeface="Arial"/>
              </a:rPr>
              <a:t>El docent: «L'alumne no la podrà llegir.»</a:t>
            </a:r>
          </a:p>
          <a:p>
            <a:pPr marL="0" indent="0">
              <a:lnSpc>
                <a:spcPct val="105000"/>
              </a:lnSpc>
              <a:spcAft>
                <a:spcPts val="960"/>
              </a:spcAft>
              <a:buNone/>
            </a:pPr>
            <a:r>
              <a:rPr sz="2400" b="0" i="0">
                <a:solidFill>
                  <a:srgbClr val="23393A"/>
                </a:solidFill>
                <a:latin typeface="Arial"/>
              </a:rPr>
              <a:t>Ara en té 181.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45720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 i="1">
                <a:solidFill>
                  <a:srgbClr val="666666"/>
                </a:solidFill>
                <a:latin typeface="Arial"/>
              </a:rPr>
              <a:t>Matemàtiques per a tothom</a:t>
            </a:r>
          </a:p>
        </p:txBody>
      </p:sp>
      <p:pic>
        <p:nvPicPr>
          <p:cNvPr id="3" name="Picture 2" descr="ab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110896"/>
            <a:ext cx="1143000" cy="500583"/>
          </a:xfrm>
          <a:prstGeom prst="rect">
            <a:avLst/>
          </a:prstGeom>
        </p:spPr>
      </p:pic>
      <p:pic>
        <p:nvPicPr>
          <p:cNvPr id="4" name="Picture 3" descr="figura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283131"/>
            <a:ext cx="868680" cy="165462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051560" y="731520"/>
            <a:ext cx="7818120" cy="4206240"/>
          </a:xfrm>
          <a:prstGeom prst="roundRect">
            <a:avLst>
              <a:gd name="adj" fmla="val 6000"/>
            </a:avLst>
          </a:prstGeom>
          <a:solidFill>
            <a:srgbClr val="EF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868680"/>
            <a:ext cx="7269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000000"/>
                </a:solidFill>
                <a:latin typeface="Arial"/>
              </a:rPr>
              <a:t>Amb el docent dins del bucle: 4 setmanes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463039"/>
            <a:ext cx="6537960" cy="3337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Aft>
                <a:spcPts val="960"/>
              </a:spcAft>
              <a:buNone/>
            </a:pPr>
            <a:r>
              <a:rPr sz="2400" b="0" i="0">
                <a:solidFill>
                  <a:srgbClr val="23393A"/>
                </a:solidFill>
                <a:latin typeface="Arial"/>
              </a:rPr>
              <a:t>Història 1: la primera fitxa tenia 700 paraules.</a:t>
            </a:r>
          </a:p>
          <a:p>
            <a:pPr marL="0" indent="0">
              <a:lnSpc>
                <a:spcPct val="105000"/>
              </a:lnSpc>
              <a:spcAft>
                <a:spcPts val="960"/>
              </a:spcAft>
              <a:buNone/>
            </a:pPr>
            <a:r>
              <a:rPr sz="2400" b="0" i="0">
                <a:solidFill>
                  <a:srgbClr val="23393A"/>
                </a:solidFill>
                <a:latin typeface="Arial"/>
              </a:rPr>
              <a:t>El docent: «L'alumne no la podrà llegir.»</a:t>
            </a:r>
          </a:p>
          <a:p>
            <a:pPr marL="0" indent="0">
              <a:lnSpc>
                <a:spcPct val="105000"/>
              </a:lnSpc>
              <a:spcAft>
                <a:spcPts val="960"/>
              </a:spcAft>
              <a:buNone/>
            </a:pPr>
            <a:r>
              <a:rPr sz="2400" b="0" i="0">
                <a:solidFill>
                  <a:srgbClr val="23393A"/>
                </a:solidFill>
                <a:latin typeface="Arial"/>
              </a:rPr>
              <a:t>Ara en té 181.</a:t>
            </a:r>
          </a:p>
          <a:p>
            <a:pPr marL="0" indent="0">
              <a:lnSpc>
                <a:spcPct val="105000"/>
              </a:lnSpc>
              <a:spcAft>
                <a:spcPts val="960"/>
              </a:spcAft>
              <a:buNone/>
            </a:pPr>
            <a:r>
              <a:rPr sz="2400" b="0" i="0">
                <a:solidFill>
                  <a:srgbClr val="23393A"/>
                </a:solidFill>
                <a:latin typeface="Arial"/>
              </a:rPr>
              <a:t>Regla nova: el dibuix explica, les paraules només etiqueten.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45720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 i="1">
                <a:solidFill>
                  <a:srgbClr val="666666"/>
                </a:solidFill>
                <a:latin typeface="Arial"/>
              </a:rPr>
              <a:t>Matemàtiques per a tothom</a:t>
            </a:r>
          </a:p>
        </p:txBody>
      </p:sp>
      <p:pic>
        <p:nvPicPr>
          <p:cNvPr id="3" name="Picture 2" descr="ab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110896"/>
            <a:ext cx="1143000" cy="500583"/>
          </a:xfrm>
          <a:prstGeom prst="rect">
            <a:avLst/>
          </a:prstGeom>
        </p:spPr>
      </p:pic>
      <p:pic>
        <p:nvPicPr>
          <p:cNvPr id="4" name="Picture 3" descr="figura-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851910"/>
            <a:ext cx="868680" cy="108585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051560" y="731520"/>
            <a:ext cx="7818120" cy="4206240"/>
          </a:xfrm>
          <a:prstGeom prst="roundRect">
            <a:avLst>
              <a:gd name="adj" fmla="val 6000"/>
            </a:avLst>
          </a:prstGeom>
          <a:solidFill>
            <a:srgbClr val="EF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868680"/>
            <a:ext cx="7269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000000"/>
                </a:solidFill>
                <a:latin typeface="Arial"/>
              </a:rPr>
              <a:t>Història 2: la calculadora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45720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 i="1">
                <a:solidFill>
                  <a:srgbClr val="666666"/>
                </a:solidFill>
                <a:latin typeface="Arial"/>
              </a:rPr>
              <a:t>Matemàtiques per a tothom</a:t>
            </a:r>
          </a:p>
        </p:txBody>
      </p:sp>
      <p:pic>
        <p:nvPicPr>
          <p:cNvPr id="3" name="Picture 2" descr="ab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110896"/>
            <a:ext cx="1143000" cy="500583"/>
          </a:xfrm>
          <a:prstGeom prst="rect">
            <a:avLst/>
          </a:prstGeom>
        </p:spPr>
      </p:pic>
      <p:pic>
        <p:nvPicPr>
          <p:cNvPr id="4" name="Picture 3" descr="figura-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851910"/>
            <a:ext cx="868680" cy="108585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051560" y="731520"/>
            <a:ext cx="7818120" cy="4206240"/>
          </a:xfrm>
          <a:prstGeom prst="roundRect">
            <a:avLst>
              <a:gd name="adj" fmla="val 6000"/>
            </a:avLst>
          </a:prstGeom>
          <a:solidFill>
            <a:srgbClr val="EF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868680"/>
            <a:ext cx="7269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000000"/>
                </a:solidFill>
                <a:latin typeface="Arial"/>
              </a:rPr>
              <a:t>Història 2: la calculadora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463039"/>
            <a:ext cx="6537960" cy="3337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Aft>
                <a:spcPts val="960"/>
              </a:spcAft>
              <a:buNone/>
            </a:pPr>
            <a:r>
              <a:rPr sz="2400" b="0" i="0">
                <a:solidFill>
                  <a:srgbClr val="23393A"/>
                </a:solidFill>
                <a:latin typeface="Arial"/>
              </a:rPr>
              <a:t>La de la pantalla tenia la tecla «=».</a:t>
            </a:r>
          </a:p>
          <a:p>
            <a:pPr marL="0" indent="0">
              <a:lnSpc>
                <a:spcPct val="105000"/>
              </a:lnSpc>
              <a:spcAft>
                <a:spcPts val="960"/>
              </a:spcAft>
              <a:buNone/>
            </a:pPr>
            <a:r>
              <a:rPr sz="2400" b="0" i="0">
                <a:solidFill>
                  <a:srgbClr val="23393A"/>
                </a:solidFill>
                <a:latin typeface="Arial"/>
              </a:rPr>
              <a:t>La Casio de l'alumne no la té: té EXE.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lculadora-16-i-23-setembre-aba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0315" y="137160"/>
            <a:ext cx="6403369" cy="4869180"/>
          </a:xfrm>
          <a:prstGeom prst="rect">
            <a:avLst/>
          </a:prstGeom>
          <a:ln w="9525">
            <a:solidFill>
              <a:srgbClr val="8A9A9B"/>
            </a:solidFill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lculadora-16-i-23-setembre-a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5628" y="137160"/>
            <a:ext cx="6632743" cy="4869180"/>
          </a:xfrm>
          <a:prstGeom prst="rect">
            <a:avLst/>
          </a:prstGeom>
          <a:ln w="9525">
            <a:solidFill>
              <a:srgbClr val="8A9A9B"/>
            </a:solidFill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45720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 i="1">
                <a:solidFill>
                  <a:srgbClr val="666666"/>
                </a:solidFill>
                <a:latin typeface="Arial"/>
              </a:rPr>
              <a:t>Matemàtiques per a tothom</a:t>
            </a:r>
          </a:p>
        </p:txBody>
      </p:sp>
      <p:pic>
        <p:nvPicPr>
          <p:cNvPr id="3" name="Picture 2" descr="ab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110896"/>
            <a:ext cx="1143000" cy="500583"/>
          </a:xfrm>
          <a:prstGeom prst="rect">
            <a:avLst/>
          </a:prstGeom>
        </p:spPr>
      </p:pic>
      <p:pic>
        <p:nvPicPr>
          <p:cNvPr id="4" name="Picture 3" descr="figura-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851910"/>
            <a:ext cx="868680" cy="108585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051560" y="731520"/>
            <a:ext cx="7818120" cy="4206240"/>
          </a:xfrm>
          <a:prstGeom prst="roundRect">
            <a:avLst>
              <a:gd name="adj" fmla="val 6000"/>
            </a:avLst>
          </a:prstGeom>
          <a:solidFill>
            <a:srgbClr val="EF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868680"/>
            <a:ext cx="7269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000000"/>
                </a:solidFill>
                <a:latin typeface="Arial"/>
              </a:rPr>
              <a:t>Història 2: la calculadora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463039"/>
            <a:ext cx="6537960" cy="3337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Aft>
                <a:spcPts val="960"/>
              </a:spcAft>
              <a:buNone/>
            </a:pPr>
            <a:r>
              <a:rPr sz="2400" b="0" i="0">
                <a:solidFill>
                  <a:srgbClr val="23393A"/>
                </a:solidFill>
                <a:latin typeface="Arial"/>
              </a:rPr>
              <a:t>La de la pantalla tenia la tecla «=».</a:t>
            </a:r>
          </a:p>
          <a:p>
            <a:pPr marL="0" indent="0">
              <a:lnSpc>
                <a:spcPct val="105000"/>
              </a:lnSpc>
              <a:spcAft>
                <a:spcPts val="960"/>
              </a:spcAft>
              <a:buNone/>
            </a:pPr>
            <a:r>
              <a:rPr sz="2400" b="0" i="0">
                <a:solidFill>
                  <a:srgbClr val="23393A"/>
                </a:solidFill>
                <a:latin typeface="Arial"/>
              </a:rPr>
              <a:t>La Casio de l'alumne no la té: té EXE.</a:t>
            </a:r>
          </a:p>
          <a:p>
            <a:pPr marL="0" indent="0">
              <a:lnSpc>
                <a:spcPct val="105000"/>
              </a:lnSpc>
              <a:spcAft>
                <a:spcPts val="960"/>
              </a:spcAft>
              <a:buNone/>
            </a:pPr>
            <a:r>
              <a:rPr sz="2400" b="0" i="0">
                <a:solidFill>
                  <a:srgbClr val="23393A"/>
                </a:solidFill>
                <a:latin typeface="Arial"/>
              </a:rPr>
              <a:t>Si la pantalla i l'aparell no coincideixen,</a:t>
            </a:r>
          </a:p>
          <a:p>
            <a:pPr marL="0" indent="0">
              <a:lnSpc>
                <a:spcPct val="105000"/>
              </a:lnSpc>
              <a:spcAft>
                <a:spcPts val="960"/>
              </a:spcAft>
              <a:buNone/>
            </a:pPr>
            <a:r>
              <a:rPr sz="2400" b="0" i="0">
                <a:solidFill>
                  <a:srgbClr val="23393A"/>
                </a:solidFill>
                <a:latin typeface="Arial"/>
              </a:rPr>
              <a:t>l'alumne es bloqueja.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45720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 i="1">
                <a:solidFill>
                  <a:srgbClr val="666666"/>
                </a:solidFill>
                <a:latin typeface="Arial"/>
              </a:rPr>
              <a:t>Matemàtiques per a tothom</a:t>
            </a:r>
          </a:p>
        </p:txBody>
      </p:sp>
      <p:pic>
        <p:nvPicPr>
          <p:cNvPr id="3" name="Picture 2" descr="ab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110896"/>
            <a:ext cx="1143000" cy="500583"/>
          </a:xfrm>
          <a:prstGeom prst="rect">
            <a:avLst/>
          </a:prstGeom>
        </p:spPr>
      </p:pic>
      <p:pic>
        <p:nvPicPr>
          <p:cNvPr id="4" name="Picture 3" descr="figura-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4167793"/>
            <a:ext cx="868680" cy="76996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051560" y="731520"/>
            <a:ext cx="7818120" cy="4206240"/>
          </a:xfrm>
          <a:prstGeom prst="roundRect">
            <a:avLst>
              <a:gd name="adj" fmla="val 6000"/>
            </a:avLst>
          </a:prstGeom>
          <a:solidFill>
            <a:srgbClr val="EF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868680"/>
            <a:ext cx="7269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000000"/>
                </a:solidFill>
                <a:latin typeface="Arial"/>
              </a:rPr>
              <a:t>Història 3: un model resolt que no lligava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45720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 i="1">
                <a:solidFill>
                  <a:srgbClr val="666666"/>
                </a:solidFill>
                <a:latin typeface="Arial"/>
              </a:rPr>
              <a:t>Matemàtiques per a tothom</a:t>
            </a:r>
          </a:p>
        </p:txBody>
      </p:sp>
      <p:pic>
        <p:nvPicPr>
          <p:cNvPr id="3" name="Picture 2" descr="ab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110896"/>
            <a:ext cx="1143000" cy="500583"/>
          </a:xfrm>
          <a:prstGeom prst="rect">
            <a:avLst/>
          </a:prstGeom>
        </p:spPr>
      </p:pic>
      <p:pic>
        <p:nvPicPr>
          <p:cNvPr id="4" name="Picture 3" descr="figura-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4167793"/>
            <a:ext cx="868680" cy="76996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051560" y="731520"/>
            <a:ext cx="7818120" cy="4206240"/>
          </a:xfrm>
          <a:prstGeom prst="roundRect">
            <a:avLst>
              <a:gd name="adj" fmla="val 6000"/>
            </a:avLst>
          </a:prstGeom>
          <a:solidFill>
            <a:srgbClr val="EF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868680"/>
            <a:ext cx="7269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000000"/>
                </a:solidFill>
                <a:latin typeface="Arial"/>
              </a:rPr>
              <a:t>Història 3: un model resolt que no lligava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463039"/>
            <a:ext cx="6537960" cy="3337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Aft>
                <a:spcPts val="960"/>
              </a:spcAft>
              <a:buNone/>
            </a:pPr>
            <a:r>
              <a:rPr sz="2400" b="0" i="0">
                <a:solidFill>
                  <a:srgbClr val="23393A"/>
                </a:solidFill>
                <a:latin typeface="Arial"/>
              </a:rPr>
              <a:t>L'enunciat deia: «En un terç hi ha llapis vermells.»</a:t>
            </a:r>
          </a:p>
          <a:p>
            <a:pPr marL="0" indent="0">
              <a:lnSpc>
                <a:spcPct val="105000"/>
              </a:lnSpc>
              <a:spcAft>
                <a:spcPts val="960"/>
              </a:spcAft>
              <a:buNone/>
            </a:pPr>
            <a:r>
              <a:rPr sz="2400" b="0" i="0">
                <a:solidFill>
                  <a:srgbClr val="23393A"/>
                </a:solidFill>
                <a:latin typeface="Arial"/>
              </a:rPr>
              <a:t>El model resolt calculava 1/4 de 20.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45720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 i="1">
                <a:solidFill>
                  <a:srgbClr val="666666"/>
                </a:solidFill>
                <a:latin typeface="Arial"/>
              </a:rPr>
              <a:t>Matemàtiques per a tothom</a:t>
            </a:r>
          </a:p>
        </p:txBody>
      </p:sp>
      <p:pic>
        <p:nvPicPr>
          <p:cNvPr id="3" name="Picture 2" descr="ab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110896"/>
            <a:ext cx="1143000" cy="500583"/>
          </a:xfrm>
          <a:prstGeom prst="rect">
            <a:avLst/>
          </a:prstGeom>
        </p:spPr>
      </p:pic>
      <p:pic>
        <p:nvPicPr>
          <p:cNvPr id="4" name="Picture 3" descr="figura-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4167793"/>
            <a:ext cx="868680" cy="76996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051560" y="731520"/>
            <a:ext cx="7818120" cy="4206240"/>
          </a:xfrm>
          <a:prstGeom prst="roundRect">
            <a:avLst>
              <a:gd name="adj" fmla="val 6000"/>
            </a:avLst>
          </a:prstGeom>
          <a:solidFill>
            <a:srgbClr val="EF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868680"/>
            <a:ext cx="7269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000000"/>
                </a:solidFill>
                <a:latin typeface="Arial"/>
              </a:rPr>
              <a:t>Història 3: un model resolt que no lligava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463039"/>
            <a:ext cx="6537960" cy="3337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Aft>
                <a:spcPts val="960"/>
              </a:spcAft>
              <a:buNone/>
            </a:pPr>
            <a:r>
              <a:rPr sz="2400" b="0" i="0">
                <a:solidFill>
                  <a:srgbClr val="23393A"/>
                </a:solidFill>
                <a:latin typeface="Arial"/>
              </a:rPr>
              <a:t>L'enunciat deia: «En un terç hi ha llapis vermells.»</a:t>
            </a:r>
          </a:p>
          <a:p>
            <a:pPr marL="0" indent="0">
              <a:lnSpc>
                <a:spcPct val="105000"/>
              </a:lnSpc>
              <a:spcAft>
                <a:spcPts val="960"/>
              </a:spcAft>
              <a:buNone/>
            </a:pPr>
            <a:r>
              <a:rPr sz="2400" b="0" i="0">
                <a:solidFill>
                  <a:srgbClr val="23393A"/>
                </a:solidFill>
                <a:latin typeface="Arial"/>
              </a:rPr>
              <a:t>El model resolt calculava 1/4 de 20.</a:t>
            </a:r>
          </a:p>
          <a:p>
            <a:pPr marL="0" indent="0">
              <a:lnSpc>
                <a:spcPct val="105000"/>
              </a:lnSpc>
              <a:spcAft>
                <a:spcPts val="960"/>
              </a:spcAft>
              <a:buNone/>
            </a:pPr>
            <a:r>
              <a:rPr sz="2400" b="0" i="0">
                <a:solidFill>
                  <a:srgbClr val="23393A"/>
                </a:solidFill>
                <a:latin typeface="Arial"/>
              </a:rPr>
              <a:t>L'alumne copia el model resolt.</a:t>
            </a:r>
          </a:p>
          <a:p>
            <a:pPr marL="0" indent="0">
              <a:lnSpc>
                <a:spcPct val="105000"/>
              </a:lnSpc>
              <a:spcAft>
                <a:spcPts val="960"/>
              </a:spcAft>
              <a:buNone/>
            </a:pPr>
            <a:r>
              <a:rPr sz="2400" b="0" i="0">
                <a:solidFill>
                  <a:srgbClr val="23393A"/>
                </a:solidFill>
                <a:latin typeface="Arial"/>
              </a:rPr>
              <a:t>Si el model té un error, ensenya l'error.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45720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 i="1">
                <a:solidFill>
                  <a:srgbClr val="666666"/>
                </a:solidFill>
                <a:latin typeface="Arial"/>
              </a:rPr>
              <a:t>Matemàtiques per a tothom</a:t>
            </a:r>
          </a:p>
        </p:txBody>
      </p:sp>
      <p:pic>
        <p:nvPicPr>
          <p:cNvPr id="3" name="Picture 2" descr="ab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110896"/>
            <a:ext cx="1143000" cy="500583"/>
          </a:xfrm>
          <a:prstGeom prst="rect">
            <a:avLst/>
          </a:prstGeom>
        </p:spPr>
      </p:pic>
      <p:pic>
        <p:nvPicPr>
          <p:cNvPr id="4" name="Picture 3" descr="figura-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39" y="4262120"/>
            <a:ext cx="868680" cy="6756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051560" y="731520"/>
            <a:ext cx="7818120" cy="4206240"/>
          </a:xfrm>
          <a:prstGeom prst="roundRect">
            <a:avLst>
              <a:gd name="adj" fmla="val 6000"/>
            </a:avLst>
          </a:prstGeom>
          <a:solidFill>
            <a:srgbClr val="EF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868680"/>
            <a:ext cx="7269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000000"/>
                </a:solidFill>
                <a:latin typeface="Arial"/>
              </a:rPr>
              <a:t>Història 4: entendre o memoritzar?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45720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 i="1">
                <a:solidFill>
                  <a:srgbClr val="666666"/>
                </a:solidFill>
                <a:latin typeface="Arial"/>
              </a:rPr>
              <a:t>Matemàtiques per a tothom</a:t>
            </a:r>
          </a:p>
        </p:txBody>
      </p:sp>
      <p:pic>
        <p:nvPicPr>
          <p:cNvPr id="3" name="Picture 2" descr="ab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110896"/>
            <a:ext cx="1143000" cy="500583"/>
          </a:xfrm>
          <a:prstGeom prst="rect">
            <a:avLst/>
          </a:prstGeom>
        </p:spPr>
      </p:pic>
      <p:pic>
        <p:nvPicPr>
          <p:cNvPr id="4" name="Picture 3" descr="figura-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39" y="4262120"/>
            <a:ext cx="868680" cy="6756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051560" y="731520"/>
            <a:ext cx="7818120" cy="4206240"/>
          </a:xfrm>
          <a:prstGeom prst="roundRect">
            <a:avLst>
              <a:gd name="adj" fmla="val 6000"/>
            </a:avLst>
          </a:prstGeom>
          <a:solidFill>
            <a:srgbClr val="EF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868680"/>
            <a:ext cx="7269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000000"/>
                </a:solidFill>
                <a:latin typeface="Arial"/>
              </a:rPr>
              <a:t>Història 4: entendre o memoritzar?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463039"/>
            <a:ext cx="6537960" cy="3337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Aft>
                <a:spcPts val="960"/>
              </a:spcAft>
              <a:buNone/>
            </a:pPr>
            <a:r>
              <a:rPr sz="2400" b="0" i="0">
                <a:solidFill>
                  <a:srgbClr val="23393A"/>
                </a:solidFill>
                <a:latin typeface="Arial"/>
              </a:rPr>
              <a:t>Tota la unitat arrodonint cap amunt.</a:t>
            </a:r>
          </a:p>
          <a:p>
            <a:pPr marL="0" indent="0">
              <a:lnSpc>
                <a:spcPct val="105000"/>
              </a:lnSpc>
              <a:spcAft>
                <a:spcPts val="960"/>
              </a:spcAft>
              <a:buNone/>
            </a:pPr>
            <a:r>
              <a:rPr sz="2400" b="0" i="0">
                <a:solidFill>
                  <a:srgbClr val="23393A"/>
                </a:solidFill>
                <a:latin typeface="Arial"/>
              </a:rPr>
              <a:t>Al final: «Tens 11 €. Una entrada val 3 €.»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-la-vida-de-cada-d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449" y="137160"/>
            <a:ext cx="6705100" cy="4869180"/>
          </a:xfrm>
          <a:prstGeom prst="rect">
            <a:avLst/>
          </a:prstGeom>
          <a:ln w="9525">
            <a:solidFill>
              <a:srgbClr val="8A9A9B"/>
            </a:solidFill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45720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 i="1">
                <a:solidFill>
                  <a:srgbClr val="666666"/>
                </a:solidFill>
                <a:latin typeface="Arial"/>
              </a:rPr>
              <a:t>Matemàtiques per a tothom</a:t>
            </a:r>
          </a:p>
        </p:txBody>
      </p:sp>
      <p:pic>
        <p:nvPicPr>
          <p:cNvPr id="3" name="Picture 2" descr="ab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110896"/>
            <a:ext cx="1143000" cy="500583"/>
          </a:xfrm>
          <a:prstGeom prst="rect">
            <a:avLst/>
          </a:prstGeom>
        </p:spPr>
      </p:pic>
      <p:pic>
        <p:nvPicPr>
          <p:cNvPr id="4" name="Picture 3" descr="figura-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39" y="4262120"/>
            <a:ext cx="868680" cy="6756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051560" y="731520"/>
            <a:ext cx="7818120" cy="4206240"/>
          </a:xfrm>
          <a:prstGeom prst="roundRect">
            <a:avLst>
              <a:gd name="adj" fmla="val 6000"/>
            </a:avLst>
          </a:prstGeom>
          <a:solidFill>
            <a:srgbClr val="EF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868680"/>
            <a:ext cx="7269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000000"/>
                </a:solidFill>
                <a:latin typeface="Arial"/>
              </a:rPr>
              <a:t>Història 4: entendre o memoritzar?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463039"/>
            <a:ext cx="6537960" cy="3337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Aft>
                <a:spcPts val="960"/>
              </a:spcAft>
              <a:buNone/>
            </a:pPr>
            <a:r>
              <a:rPr sz="2400" b="0" i="0">
                <a:solidFill>
                  <a:srgbClr val="23393A"/>
                </a:solidFill>
                <a:latin typeface="Arial"/>
              </a:rPr>
              <a:t>Tota la unitat arrodonint cap amunt.</a:t>
            </a:r>
          </a:p>
          <a:p>
            <a:pPr marL="0" indent="0">
              <a:lnSpc>
                <a:spcPct val="105000"/>
              </a:lnSpc>
              <a:spcAft>
                <a:spcPts val="960"/>
              </a:spcAft>
              <a:buNone/>
            </a:pPr>
            <a:r>
              <a:rPr sz="2400" b="0" i="0">
                <a:solidFill>
                  <a:srgbClr val="23393A"/>
                </a:solidFill>
                <a:latin typeface="Arial"/>
              </a:rPr>
              <a:t>Al final: «Tens 11 €. Una entrada val 3 €.»</a:t>
            </a:r>
          </a:p>
          <a:p>
            <a:pPr marL="0" indent="0">
              <a:lnSpc>
                <a:spcPct val="105000"/>
              </a:lnSpc>
              <a:spcAft>
                <a:spcPts val="960"/>
              </a:spcAft>
              <a:buNone/>
            </a:pPr>
            <a:r>
              <a:rPr sz="2400" b="0" i="0">
                <a:solidFill>
                  <a:srgbClr val="23393A"/>
                </a:solidFill>
                <a:latin typeface="Arial"/>
              </a:rPr>
              <a:t>Qui ha memoritzat, arrodoneix amunt i falla.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45720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 i="1">
                <a:solidFill>
                  <a:srgbClr val="666666"/>
                </a:solidFill>
                <a:latin typeface="Arial"/>
              </a:rPr>
              <a:t>Matemàtiques per a tothom</a:t>
            </a:r>
          </a:p>
        </p:txBody>
      </p:sp>
      <p:pic>
        <p:nvPicPr>
          <p:cNvPr id="3" name="Picture 2" descr="ab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110896"/>
            <a:ext cx="1143000" cy="500583"/>
          </a:xfrm>
          <a:prstGeom prst="rect">
            <a:avLst/>
          </a:prstGeom>
        </p:spPr>
      </p:pic>
      <p:pic>
        <p:nvPicPr>
          <p:cNvPr id="4" name="Picture 3" descr="figura-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39" y="4262120"/>
            <a:ext cx="868680" cy="6756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051560" y="731520"/>
            <a:ext cx="7818120" cy="4206240"/>
          </a:xfrm>
          <a:prstGeom prst="roundRect">
            <a:avLst>
              <a:gd name="adj" fmla="val 6000"/>
            </a:avLst>
          </a:prstGeom>
          <a:solidFill>
            <a:srgbClr val="EF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868680"/>
            <a:ext cx="7269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000000"/>
                </a:solidFill>
                <a:latin typeface="Arial"/>
              </a:rPr>
              <a:t>Història 4: entendre o memoritzar?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463039"/>
            <a:ext cx="6537960" cy="3337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Aft>
                <a:spcPts val="960"/>
              </a:spcAft>
              <a:buNone/>
            </a:pPr>
            <a:r>
              <a:rPr sz="2400" b="0" i="0">
                <a:solidFill>
                  <a:srgbClr val="23393A"/>
                </a:solidFill>
                <a:latin typeface="Arial"/>
              </a:rPr>
              <a:t>Tota la unitat arrodonint cap amunt.</a:t>
            </a:r>
          </a:p>
          <a:p>
            <a:pPr marL="0" indent="0">
              <a:lnSpc>
                <a:spcPct val="105000"/>
              </a:lnSpc>
              <a:spcAft>
                <a:spcPts val="960"/>
              </a:spcAft>
              <a:buNone/>
            </a:pPr>
            <a:r>
              <a:rPr sz="2400" b="0" i="0">
                <a:solidFill>
                  <a:srgbClr val="23393A"/>
                </a:solidFill>
                <a:latin typeface="Arial"/>
              </a:rPr>
              <a:t>Al final: «Tens 11 €. Una entrada val 3 €.»</a:t>
            </a:r>
          </a:p>
          <a:p>
            <a:pPr marL="0" indent="0">
              <a:lnSpc>
                <a:spcPct val="105000"/>
              </a:lnSpc>
              <a:spcAft>
                <a:spcPts val="960"/>
              </a:spcAft>
              <a:buNone/>
            </a:pPr>
            <a:r>
              <a:rPr sz="2400" b="0" i="0">
                <a:solidFill>
                  <a:srgbClr val="23393A"/>
                </a:solidFill>
                <a:latin typeface="Arial"/>
              </a:rPr>
              <a:t>Qui ha memoritzat, arrodoneix amunt i falla.</a:t>
            </a:r>
          </a:p>
          <a:p>
            <a:pPr marL="0" indent="0">
              <a:lnSpc>
                <a:spcPct val="105000"/>
              </a:lnSpc>
              <a:spcAft>
                <a:spcPts val="960"/>
              </a:spcAft>
              <a:buNone/>
            </a:pPr>
            <a:r>
              <a:rPr sz="2400" b="0" i="0">
                <a:solidFill>
                  <a:srgbClr val="23393A"/>
                </a:solidFill>
                <a:latin typeface="Arial"/>
              </a:rPr>
              <a:t>Qui ho ha entès, arrodoneix avall.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45720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 i="1">
                <a:solidFill>
                  <a:srgbClr val="666666"/>
                </a:solidFill>
                <a:latin typeface="Arial"/>
              </a:rPr>
              <a:t>Matemàtiques per a tothom</a:t>
            </a:r>
          </a:p>
        </p:txBody>
      </p:sp>
      <p:pic>
        <p:nvPicPr>
          <p:cNvPr id="3" name="Picture 2" descr="ab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110896"/>
            <a:ext cx="1143000" cy="500583"/>
          </a:xfrm>
          <a:prstGeom prst="rect">
            <a:avLst/>
          </a:prstGeom>
        </p:spPr>
      </p:pic>
      <p:pic>
        <p:nvPicPr>
          <p:cNvPr id="4" name="Picture 3" descr="figura-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4371229"/>
            <a:ext cx="868680" cy="56653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051560" y="731520"/>
            <a:ext cx="7818120" cy="4206240"/>
          </a:xfrm>
          <a:prstGeom prst="roundRect">
            <a:avLst>
              <a:gd name="adj" fmla="val 6000"/>
            </a:avLst>
          </a:prstGeom>
          <a:solidFill>
            <a:srgbClr val="EF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868680"/>
            <a:ext cx="7269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000000"/>
                </a:solidFill>
                <a:latin typeface="Arial"/>
              </a:rPr>
              <a:t>Abans de pintar una casa, cal fer els fonaments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45720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 i="1">
                <a:solidFill>
                  <a:srgbClr val="666666"/>
                </a:solidFill>
                <a:latin typeface="Arial"/>
              </a:rPr>
              <a:t>Matemàtiques per a tothom</a:t>
            </a:r>
          </a:p>
        </p:txBody>
      </p:sp>
      <p:pic>
        <p:nvPicPr>
          <p:cNvPr id="3" name="Picture 2" descr="ab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110896"/>
            <a:ext cx="1143000" cy="500583"/>
          </a:xfrm>
          <a:prstGeom prst="rect">
            <a:avLst/>
          </a:prstGeom>
        </p:spPr>
      </p:pic>
      <p:pic>
        <p:nvPicPr>
          <p:cNvPr id="4" name="Picture 3" descr="figura-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4371229"/>
            <a:ext cx="868680" cy="56653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051560" y="731520"/>
            <a:ext cx="7818120" cy="4206240"/>
          </a:xfrm>
          <a:prstGeom prst="roundRect">
            <a:avLst>
              <a:gd name="adj" fmla="val 6000"/>
            </a:avLst>
          </a:prstGeom>
          <a:solidFill>
            <a:srgbClr val="EF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868680"/>
            <a:ext cx="7269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000000"/>
                </a:solidFill>
                <a:latin typeface="Arial"/>
              </a:rPr>
              <a:t>Abans de pintar una casa, cal fer els fonaments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463039"/>
            <a:ext cx="6537960" cy="3337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426720" indent="-426720">
              <a:lnSpc>
                <a:spcPct val="105000"/>
              </a:lnSpc>
              <a:spcAft>
                <a:spcPts val="960"/>
              </a:spcAft>
              <a:buNone/>
            </a:pPr>
            <a:r>
              <a:rPr sz="2400" b="0" i="0">
                <a:solidFill>
                  <a:srgbClr val="23393A"/>
                </a:solidFill>
                <a:latin typeface="Arial"/>
              </a:rPr>
              <a:t>1. Funciona sense internet, des d'un llapis USB.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45720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 i="1">
                <a:solidFill>
                  <a:srgbClr val="666666"/>
                </a:solidFill>
                <a:latin typeface="Arial"/>
              </a:rPr>
              <a:t>Matemàtiques per a tothom</a:t>
            </a:r>
          </a:p>
        </p:txBody>
      </p:sp>
      <p:pic>
        <p:nvPicPr>
          <p:cNvPr id="3" name="Picture 2" descr="ab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110896"/>
            <a:ext cx="1143000" cy="500583"/>
          </a:xfrm>
          <a:prstGeom prst="rect">
            <a:avLst/>
          </a:prstGeom>
        </p:spPr>
      </p:pic>
      <p:pic>
        <p:nvPicPr>
          <p:cNvPr id="4" name="Picture 3" descr="figura-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4371229"/>
            <a:ext cx="868680" cy="56653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051560" y="731520"/>
            <a:ext cx="7818120" cy="4206240"/>
          </a:xfrm>
          <a:prstGeom prst="roundRect">
            <a:avLst>
              <a:gd name="adj" fmla="val 6000"/>
            </a:avLst>
          </a:prstGeom>
          <a:solidFill>
            <a:srgbClr val="EF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868680"/>
            <a:ext cx="7269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000000"/>
                </a:solidFill>
                <a:latin typeface="Arial"/>
              </a:rPr>
              <a:t>Abans de pintar una casa, cal fer els fonaments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463039"/>
            <a:ext cx="6537960" cy="3337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426720" indent="-426720">
              <a:lnSpc>
                <a:spcPct val="105000"/>
              </a:lnSpc>
              <a:spcAft>
                <a:spcPts val="960"/>
              </a:spcAft>
              <a:buNone/>
            </a:pPr>
            <a:r>
              <a:rPr sz="2400" b="0" i="0">
                <a:solidFill>
                  <a:srgbClr val="23393A"/>
                </a:solidFill>
                <a:latin typeface="Arial"/>
              </a:rPr>
              <a:t>1. Funciona sense internet, des d'un llapis USB.</a:t>
            </a:r>
          </a:p>
          <a:p>
            <a:pPr marL="426720" indent="-426720">
              <a:lnSpc>
                <a:spcPct val="105000"/>
              </a:lnSpc>
              <a:spcAft>
                <a:spcPts val="960"/>
              </a:spcAft>
              <a:buNone/>
            </a:pPr>
            <a:r>
              <a:rPr sz="2400" b="0" i="0">
                <a:solidFill>
                  <a:srgbClr val="23393A"/>
                </a:solidFill>
                <a:latin typeface="Arial"/>
              </a:rPr>
              <a:t>2. Cada dada s'escriu en un sol lloc.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45720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 i="1">
                <a:solidFill>
                  <a:srgbClr val="666666"/>
                </a:solidFill>
                <a:latin typeface="Arial"/>
              </a:rPr>
              <a:t>Matemàtiques per a tothom</a:t>
            </a:r>
          </a:p>
        </p:txBody>
      </p:sp>
      <p:pic>
        <p:nvPicPr>
          <p:cNvPr id="3" name="Picture 2" descr="ab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110896"/>
            <a:ext cx="1143000" cy="500583"/>
          </a:xfrm>
          <a:prstGeom prst="rect">
            <a:avLst/>
          </a:prstGeom>
        </p:spPr>
      </p:pic>
      <p:pic>
        <p:nvPicPr>
          <p:cNvPr id="4" name="Picture 3" descr="figura-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4371229"/>
            <a:ext cx="868680" cy="56653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051560" y="731520"/>
            <a:ext cx="7818120" cy="4206240"/>
          </a:xfrm>
          <a:prstGeom prst="roundRect">
            <a:avLst>
              <a:gd name="adj" fmla="val 6000"/>
            </a:avLst>
          </a:prstGeom>
          <a:solidFill>
            <a:srgbClr val="EF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868680"/>
            <a:ext cx="7269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000000"/>
                </a:solidFill>
                <a:latin typeface="Arial"/>
              </a:rPr>
              <a:t>Abans de pintar una casa, cal fer els fonaments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463039"/>
            <a:ext cx="6537960" cy="3337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426720" indent="-426720">
              <a:lnSpc>
                <a:spcPct val="105000"/>
              </a:lnSpc>
              <a:spcAft>
                <a:spcPts val="960"/>
              </a:spcAft>
              <a:buNone/>
            </a:pPr>
            <a:r>
              <a:rPr sz="2400" b="0" i="0">
                <a:solidFill>
                  <a:srgbClr val="23393A"/>
                </a:solidFill>
                <a:latin typeface="Arial"/>
              </a:rPr>
              <a:t>1. Funciona sense internet, des d'un llapis USB.</a:t>
            </a:r>
          </a:p>
          <a:p>
            <a:pPr marL="426720" indent="-426720">
              <a:lnSpc>
                <a:spcPct val="105000"/>
              </a:lnSpc>
              <a:spcAft>
                <a:spcPts val="960"/>
              </a:spcAft>
              <a:buNone/>
            </a:pPr>
            <a:r>
              <a:rPr sz="2400" b="0" i="0">
                <a:solidFill>
                  <a:srgbClr val="23393A"/>
                </a:solidFill>
                <a:latin typeface="Arial"/>
              </a:rPr>
              <a:t>2. Cada dada s'escriu en un sol lloc.</a:t>
            </a:r>
          </a:p>
          <a:p>
            <a:pPr marL="426720" indent="-426720">
              <a:lnSpc>
                <a:spcPct val="105000"/>
              </a:lnSpc>
              <a:spcAft>
                <a:spcPts val="960"/>
              </a:spcAft>
              <a:buNone/>
            </a:pPr>
            <a:r>
              <a:rPr sz="2400" b="0" i="0">
                <a:solidFill>
                  <a:srgbClr val="23393A"/>
                </a:solidFill>
                <a:latin typeface="Arial"/>
              </a:rPr>
              <a:t>3. Abans de publicar, una revisió automàtica.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ixa-eines-sense-format-i-amb-format-aba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835" y="137160"/>
            <a:ext cx="6724328" cy="4869180"/>
          </a:xfrm>
          <a:prstGeom prst="rect">
            <a:avLst/>
          </a:prstGeom>
          <a:ln w="9525">
            <a:solidFill>
              <a:srgbClr val="8A9A9B"/>
            </a:solidFill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ixa-eines-sense-format-i-amb-format-a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582" y="137160"/>
            <a:ext cx="6978834" cy="4869180"/>
          </a:xfrm>
          <a:prstGeom prst="rect">
            <a:avLst/>
          </a:prstGeom>
          <a:ln w="9525">
            <a:solidFill>
              <a:srgbClr val="8A9A9B"/>
            </a:solidFill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45720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 i="1">
                <a:solidFill>
                  <a:srgbClr val="666666"/>
                </a:solidFill>
                <a:latin typeface="Arial"/>
              </a:rPr>
              <a:t>Matemàtiques per a tothom</a:t>
            </a:r>
          </a:p>
        </p:txBody>
      </p:sp>
      <p:pic>
        <p:nvPicPr>
          <p:cNvPr id="3" name="Picture 2" descr="ab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110896"/>
            <a:ext cx="1143000" cy="500583"/>
          </a:xfrm>
          <a:prstGeom prst="rect">
            <a:avLst/>
          </a:prstGeom>
        </p:spPr>
      </p:pic>
      <p:pic>
        <p:nvPicPr>
          <p:cNvPr id="4" name="Picture 3" descr="figura-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4148050"/>
            <a:ext cx="868680" cy="78970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051560" y="731520"/>
            <a:ext cx="7818120" cy="4206240"/>
          </a:xfrm>
          <a:prstGeom prst="roundRect">
            <a:avLst>
              <a:gd name="adj" fmla="val 6000"/>
            </a:avLst>
          </a:prstGeom>
          <a:solidFill>
            <a:srgbClr val="EF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868680"/>
            <a:ext cx="7269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000000"/>
                </a:solidFill>
                <a:latin typeface="Arial"/>
              </a:rPr>
              <a:t>La recepta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45720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 i="1">
                <a:solidFill>
                  <a:srgbClr val="666666"/>
                </a:solidFill>
                <a:latin typeface="Arial"/>
              </a:rPr>
              <a:t>Matemàtiques per a tothom</a:t>
            </a:r>
          </a:p>
        </p:txBody>
      </p:sp>
      <p:pic>
        <p:nvPicPr>
          <p:cNvPr id="3" name="Picture 2" descr="ab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110896"/>
            <a:ext cx="1143000" cy="500583"/>
          </a:xfrm>
          <a:prstGeom prst="rect">
            <a:avLst/>
          </a:prstGeom>
        </p:spPr>
      </p:pic>
      <p:pic>
        <p:nvPicPr>
          <p:cNvPr id="4" name="Picture 3" descr="figura-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4148050"/>
            <a:ext cx="868680" cy="78970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051560" y="731520"/>
            <a:ext cx="7818120" cy="4206240"/>
          </a:xfrm>
          <a:prstGeom prst="roundRect">
            <a:avLst>
              <a:gd name="adj" fmla="val 6000"/>
            </a:avLst>
          </a:prstGeom>
          <a:solidFill>
            <a:srgbClr val="EF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868680"/>
            <a:ext cx="7269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000000"/>
                </a:solidFill>
                <a:latin typeface="Arial"/>
              </a:rPr>
              <a:t>La recepta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463039"/>
            <a:ext cx="6537960" cy="3337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320040" indent="-320040">
              <a:lnSpc>
                <a:spcPct val="105000"/>
              </a:lnSpc>
              <a:spcAft>
                <a:spcPts val="720"/>
              </a:spcAft>
              <a:buNone/>
            </a:pPr>
            <a:r>
              <a:rPr sz="1800" b="0" i="0">
                <a:solidFill>
                  <a:srgbClr val="23393A"/>
                </a:solidFill>
                <a:latin typeface="Arial"/>
              </a:rPr>
              <a:t>1. Explica qui és l'alumne: el PI, què sap fer, quina calculadora té.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45720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 i="1">
                <a:solidFill>
                  <a:srgbClr val="666666"/>
                </a:solidFill>
                <a:latin typeface="Arial"/>
              </a:rPr>
              <a:t>Matemàtiques per a tothom</a:t>
            </a:r>
          </a:p>
        </p:txBody>
      </p:sp>
      <p:pic>
        <p:nvPicPr>
          <p:cNvPr id="3" name="Picture 2" descr="ab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110896"/>
            <a:ext cx="1143000" cy="500583"/>
          </a:xfrm>
          <a:prstGeom prst="rect">
            <a:avLst/>
          </a:prstGeom>
        </p:spPr>
      </p:pic>
      <p:pic>
        <p:nvPicPr>
          <p:cNvPr id="4" name="Picture 3" descr="figura-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4148050"/>
            <a:ext cx="868680" cy="78970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051560" y="731520"/>
            <a:ext cx="7818120" cy="4206240"/>
          </a:xfrm>
          <a:prstGeom prst="roundRect">
            <a:avLst>
              <a:gd name="adj" fmla="val 6000"/>
            </a:avLst>
          </a:prstGeom>
          <a:solidFill>
            <a:srgbClr val="EF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868680"/>
            <a:ext cx="7269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000000"/>
                </a:solidFill>
                <a:latin typeface="Arial"/>
              </a:rPr>
              <a:t>La recepta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463039"/>
            <a:ext cx="6537960" cy="3337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320040" indent="-320040">
              <a:lnSpc>
                <a:spcPct val="105000"/>
              </a:lnSpc>
              <a:spcAft>
                <a:spcPts val="720"/>
              </a:spcAft>
              <a:buNone/>
            </a:pPr>
            <a:r>
              <a:rPr sz="1800" b="0" i="0">
                <a:solidFill>
                  <a:srgbClr val="23393A"/>
                </a:solidFill>
                <a:latin typeface="Arial"/>
              </a:rPr>
              <a:t>1. Explica qui és l'alumne: el PI, què sap fer, quina calculadora té.</a:t>
            </a:r>
          </a:p>
          <a:p>
            <a:pPr marL="320040" indent="-320040">
              <a:lnSpc>
                <a:spcPct val="105000"/>
              </a:lnSpc>
              <a:spcAft>
                <a:spcPts val="720"/>
              </a:spcAft>
              <a:buNone/>
            </a:pPr>
            <a:r>
              <a:rPr sz="1800" b="0" i="0">
                <a:solidFill>
                  <a:srgbClr val="23393A"/>
                </a:solidFill>
                <a:latin typeface="Arial"/>
              </a:rPr>
              <a:t>2. Respon les preguntes de la IA. Si no en fa, demana-les.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45720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 i="1">
                <a:solidFill>
                  <a:srgbClr val="666666"/>
                </a:solidFill>
                <a:latin typeface="Arial"/>
              </a:rPr>
              <a:t>Matemàtiques per a tothom</a:t>
            </a:r>
          </a:p>
        </p:txBody>
      </p:sp>
      <p:pic>
        <p:nvPicPr>
          <p:cNvPr id="3" name="Picture 2" descr="ab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110896"/>
            <a:ext cx="1143000" cy="500583"/>
          </a:xfrm>
          <a:prstGeom prst="rect">
            <a:avLst/>
          </a:prstGeom>
        </p:spPr>
      </p:pic>
      <p:pic>
        <p:nvPicPr>
          <p:cNvPr id="4" name="Picture 3" descr="figura-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4148050"/>
            <a:ext cx="868680" cy="78970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051560" y="731520"/>
            <a:ext cx="7818120" cy="4206240"/>
          </a:xfrm>
          <a:prstGeom prst="roundRect">
            <a:avLst>
              <a:gd name="adj" fmla="val 6000"/>
            </a:avLst>
          </a:prstGeom>
          <a:solidFill>
            <a:srgbClr val="EF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868680"/>
            <a:ext cx="7269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000000"/>
                </a:solidFill>
                <a:latin typeface="Arial"/>
              </a:rPr>
              <a:t>La recepta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463039"/>
            <a:ext cx="6537960" cy="3337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320040" indent="-320040">
              <a:lnSpc>
                <a:spcPct val="105000"/>
              </a:lnSpc>
              <a:spcAft>
                <a:spcPts val="720"/>
              </a:spcAft>
              <a:buNone/>
            </a:pPr>
            <a:r>
              <a:rPr sz="1800" b="0" i="0">
                <a:solidFill>
                  <a:srgbClr val="23393A"/>
                </a:solidFill>
                <a:latin typeface="Arial"/>
              </a:rPr>
              <a:t>1. Explica qui és l'alumne: el PI, què sap fer, quina calculadora té.</a:t>
            </a:r>
          </a:p>
          <a:p>
            <a:pPr marL="320040" indent="-320040">
              <a:lnSpc>
                <a:spcPct val="105000"/>
              </a:lnSpc>
              <a:spcAft>
                <a:spcPts val="720"/>
              </a:spcAft>
              <a:buNone/>
            </a:pPr>
            <a:r>
              <a:rPr sz="1800" b="0" i="0">
                <a:solidFill>
                  <a:srgbClr val="23393A"/>
                </a:solidFill>
                <a:latin typeface="Arial"/>
              </a:rPr>
              <a:t>2. Respon les preguntes de la IA. Si no en fa, demana-les.</a:t>
            </a:r>
          </a:p>
          <a:p>
            <a:pPr marL="320040" indent="-320040">
              <a:lnSpc>
                <a:spcPct val="105000"/>
              </a:lnSpc>
              <a:spcAft>
                <a:spcPts val="720"/>
              </a:spcAft>
              <a:buNone/>
            </a:pPr>
            <a:r>
              <a:rPr sz="1800" b="0" i="0">
                <a:solidFill>
                  <a:srgbClr val="23393A"/>
                </a:solidFill>
                <a:latin typeface="Arial"/>
              </a:rPr>
              <a:t>3. Demana poc i revisa molt: una fitxa, no tot el currículum.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45720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 i="1">
                <a:solidFill>
                  <a:srgbClr val="666666"/>
                </a:solidFill>
                <a:latin typeface="Arial"/>
              </a:rPr>
              <a:t>Matemàtiques per a tothom</a:t>
            </a:r>
          </a:p>
        </p:txBody>
      </p:sp>
      <p:pic>
        <p:nvPicPr>
          <p:cNvPr id="3" name="Picture 2" descr="ab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110896"/>
            <a:ext cx="1143000" cy="500583"/>
          </a:xfrm>
          <a:prstGeom prst="rect">
            <a:avLst/>
          </a:prstGeom>
        </p:spPr>
      </p:pic>
      <p:pic>
        <p:nvPicPr>
          <p:cNvPr id="4" name="Picture 3" descr="figura-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4148050"/>
            <a:ext cx="868680" cy="78970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051560" y="731520"/>
            <a:ext cx="7818120" cy="4206240"/>
          </a:xfrm>
          <a:prstGeom prst="roundRect">
            <a:avLst>
              <a:gd name="adj" fmla="val 6000"/>
            </a:avLst>
          </a:prstGeom>
          <a:solidFill>
            <a:srgbClr val="EF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868680"/>
            <a:ext cx="7269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000000"/>
                </a:solidFill>
                <a:latin typeface="Arial"/>
              </a:rPr>
              <a:t>La recepta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463039"/>
            <a:ext cx="6537960" cy="3337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320040" indent="-320040">
              <a:lnSpc>
                <a:spcPct val="105000"/>
              </a:lnSpc>
              <a:spcAft>
                <a:spcPts val="720"/>
              </a:spcAft>
              <a:buNone/>
            </a:pPr>
            <a:r>
              <a:rPr sz="1800" b="0" i="0">
                <a:solidFill>
                  <a:srgbClr val="23393A"/>
                </a:solidFill>
                <a:latin typeface="Arial"/>
              </a:rPr>
              <a:t>1. Explica qui és l'alumne: el PI, què sap fer, quina calculadora té.</a:t>
            </a:r>
          </a:p>
          <a:p>
            <a:pPr marL="320040" indent="-320040">
              <a:lnSpc>
                <a:spcPct val="105000"/>
              </a:lnSpc>
              <a:spcAft>
                <a:spcPts val="720"/>
              </a:spcAft>
              <a:buNone/>
            </a:pPr>
            <a:r>
              <a:rPr sz="1800" b="0" i="0">
                <a:solidFill>
                  <a:srgbClr val="23393A"/>
                </a:solidFill>
                <a:latin typeface="Arial"/>
              </a:rPr>
              <a:t>2. Respon les preguntes de la IA. Si no en fa, demana-les.</a:t>
            </a:r>
          </a:p>
          <a:p>
            <a:pPr marL="320040" indent="-320040">
              <a:lnSpc>
                <a:spcPct val="105000"/>
              </a:lnSpc>
              <a:spcAft>
                <a:spcPts val="720"/>
              </a:spcAft>
              <a:buNone/>
            </a:pPr>
            <a:r>
              <a:rPr sz="1800" b="0" i="0">
                <a:solidFill>
                  <a:srgbClr val="23393A"/>
                </a:solidFill>
                <a:latin typeface="Arial"/>
              </a:rPr>
              <a:t>3. Demana poc i revisa molt: una fitxa, no tot el currículum.</a:t>
            </a:r>
          </a:p>
          <a:p>
            <a:pPr marL="320040" indent="-320040">
              <a:lnSpc>
                <a:spcPct val="105000"/>
              </a:lnSpc>
              <a:spcAft>
                <a:spcPts val="720"/>
              </a:spcAft>
              <a:buNone/>
            </a:pPr>
            <a:r>
              <a:rPr sz="1800" b="0" i="0">
                <a:solidFill>
                  <a:srgbClr val="23393A"/>
                </a:solidFill>
                <a:latin typeface="Arial"/>
              </a:rPr>
              <a:t>4. Prova-ho com un alumne: equivoca't a posta, imprimeix-ho.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45720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 i="1">
                <a:solidFill>
                  <a:srgbClr val="666666"/>
                </a:solidFill>
                <a:latin typeface="Arial"/>
              </a:rPr>
              <a:t>Matemàtiques per a tothom</a:t>
            </a:r>
          </a:p>
        </p:txBody>
      </p:sp>
      <p:pic>
        <p:nvPicPr>
          <p:cNvPr id="3" name="Picture 2" descr="ab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110896"/>
            <a:ext cx="1143000" cy="500583"/>
          </a:xfrm>
          <a:prstGeom prst="rect">
            <a:avLst/>
          </a:prstGeom>
        </p:spPr>
      </p:pic>
      <p:pic>
        <p:nvPicPr>
          <p:cNvPr id="4" name="Picture 3" descr="figura-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4148050"/>
            <a:ext cx="868680" cy="78970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051560" y="731520"/>
            <a:ext cx="7818120" cy="4206240"/>
          </a:xfrm>
          <a:prstGeom prst="roundRect">
            <a:avLst>
              <a:gd name="adj" fmla="val 6000"/>
            </a:avLst>
          </a:prstGeom>
          <a:solidFill>
            <a:srgbClr val="EF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868680"/>
            <a:ext cx="7269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000000"/>
                </a:solidFill>
                <a:latin typeface="Arial"/>
              </a:rPr>
              <a:t>La recepta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463039"/>
            <a:ext cx="6537960" cy="3337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320040" indent="-320040">
              <a:lnSpc>
                <a:spcPct val="105000"/>
              </a:lnSpc>
              <a:spcAft>
                <a:spcPts val="720"/>
              </a:spcAft>
              <a:buNone/>
            </a:pPr>
            <a:r>
              <a:rPr sz="1800" b="0" i="0">
                <a:solidFill>
                  <a:srgbClr val="23393A"/>
                </a:solidFill>
                <a:latin typeface="Arial"/>
              </a:rPr>
              <a:t>1. Explica qui és l'alumne: el PI, què sap fer, quina calculadora té.</a:t>
            </a:r>
          </a:p>
          <a:p>
            <a:pPr marL="320040" indent="-320040">
              <a:lnSpc>
                <a:spcPct val="105000"/>
              </a:lnSpc>
              <a:spcAft>
                <a:spcPts val="720"/>
              </a:spcAft>
              <a:buNone/>
            </a:pPr>
            <a:r>
              <a:rPr sz="1800" b="0" i="0">
                <a:solidFill>
                  <a:srgbClr val="23393A"/>
                </a:solidFill>
                <a:latin typeface="Arial"/>
              </a:rPr>
              <a:t>2. Respon les preguntes de la IA. Si no en fa, demana-les.</a:t>
            </a:r>
          </a:p>
          <a:p>
            <a:pPr marL="320040" indent="-320040">
              <a:lnSpc>
                <a:spcPct val="105000"/>
              </a:lnSpc>
              <a:spcAft>
                <a:spcPts val="720"/>
              </a:spcAft>
              <a:buNone/>
            </a:pPr>
            <a:r>
              <a:rPr sz="1800" b="0" i="0">
                <a:solidFill>
                  <a:srgbClr val="23393A"/>
                </a:solidFill>
                <a:latin typeface="Arial"/>
              </a:rPr>
              <a:t>3. Demana poc i revisa molt: una fitxa, no tot el currículum.</a:t>
            </a:r>
          </a:p>
          <a:p>
            <a:pPr marL="320040" indent="-320040">
              <a:lnSpc>
                <a:spcPct val="105000"/>
              </a:lnSpc>
              <a:spcAft>
                <a:spcPts val="720"/>
              </a:spcAft>
              <a:buNone/>
            </a:pPr>
            <a:r>
              <a:rPr sz="1800" b="0" i="0">
                <a:solidFill>
                  <a:srgbClr val="23393A"/>
                </a:solidFill>
                <a:latin typeface="Arial"/>
              </a:rPr>
              <a:t>4. Prova-ho com un alumne: equivoca't a posta, imprimeix-ho.</a:t>
            </a:r>
          </a:p>
          <a:p>
            <a:pPr marL="320040" indent="-320040">
              <a:lnSpc>
                <a:spcPct val="105000"/>
              </a:lnSpc>
              <a:spcAft>
                <a:spcPts val="720"/>
              </a:spcAft>
              <a:buNone/>
            </a:pPr>
            <a:r>
              <a:rPr sz="1800" b="0" i="0">
                <a:solidFill>
                  <a:srgbClr val="23393A"/>
                </a:solidFill>
                <a:latin typeface="Arial"/>
              </a:rPr>
              <a:t>5. Escriu les teves regles perquè la IA les segueixi.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45720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 i="1">
                <a:solidFill>
                  <a:srgbClr val="666666"/>
                </a:solidFill>
                <a:latin typeface="Arial"/>
              </a:rPr>
              <a:t>Matemàtiques per a tothom</a:t>
            </a:r>
          </a:p>
        </p:txBody>
      </p:sp>
      <p:pic>
        <p:nvPicPr>
          <p:cNvPr id="3" name="Picture 2" descr="ab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110896"/>
            <a:ext cx="1143000" cy="500583"/>
          </a:xfrm>
          <a:prstGeom prst="rect">
            <a:avLst/>
          </a:prstGeom>
        </p:spPr>
      </p:pic>
      <p:pic>
        <p:nvPicPr>
          <p:cNvPr id="4" name="Picture 3" descr="figura-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4333460"/>
            <a:ext cx="868680" cy="60429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051560" y="731520"/>
            <a:ext cx="7818120" cy="4206240"/>
          </a:xfrm>
          <a:prstGeom prst="roundRect">
            <a:avLst>
              <a:gd name="adj" fmla="val 6000"/>
            </a:avLst>
          </a:prstGeom>
          <a:solidFill>
            <a:srgbClr val="EF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868680"/>
            <a:ext cx="7269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000000"/>
                </a:solidFill>
                <a:latin typeface="Arial"/>
              </a:rPr>
              <a:t>4 setmanes amb el docent dins del bucle: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45720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 i="1">
                <a:solidFill>
                  <a:srgbClr val="666666"/>
                </a:solidFill>
                <a:latin typeface="Arial"/>
              </a:rPr>
              <a:t>Matemàtiques per a tothom</a:t>
            </a:r>
          </a:p>
        </p:txBody>
      </p:sp>
      <p:pic>
        <p:nvPicPr>
          <p:cNvPr id="3" name="Picture 2" descr="ab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110896"/>
            <a:ext cx="1143000" cy="500583"/>
          </a:xfrm>
          <a:prstGeom prst="rect">
            <a:avLst/>
          </a:prstGeom>
        </p:spPr>
      </p:pic>
      <p:pic>
        <p:nvPicPr>
          <p:cNvPr id="4" name="Picture 3" descr="figura-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4333460"/>
            <a:ext cx="868680" cy="60429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051560" y="731520"/>
            <a:ext cx="7818120" cy="4206240"/>
          </a:xfrm>
          <a:prstGeom prst="roundRect">
            <a:avLst>
              <a:gd name="adj" fmla="val 6000"/>
            </a:avLst>
          </a:prstGeom>
          <a:solidFill>
            <a:srgbClr val="EF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868680"/>
            <a:ext cx="7269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000000"/>
                </a:solidFill>
                <a:latin typeface="Arial"/>
              </a:rPr>
              <a:t>4 setmanes amb el docent dins del bucle: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463039"/>
            <a:ext cx="6537960" cy="3337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335280" indent="-335280">
              <a:lnSpc>
                <a:spcPct val="105000"/>
              </a:lnSpc>
              <a:spcAft>
                <a:spcPts val="960"/>
              </a:spcAft>
              <a:buClr>
                <a:srgbClr val="6B4FBB"/>
              </a:buClr>
              <a:buFont typeface="Arial"/>
              <a:buChar char="•"/>
            </a:pPr>
            <a:r>
              <a:rPr sz="2400" b="0" i="0">
                <a:solidFill>
                  <a:srgbClr val="23393A"/>
                </a:solidFill>
                <a:latin typeface="Arial"/>
              </a:rPr>
              <a:t>52 fitxes (14 de 4t i 38 de 1r)</a:t>
            </a:r>
          </a:p>
          <a:p>
            <a:pPr marL="335280" indent="-335280">
              <a:lnSpc>
                <a:spcPct val="105000"/>
              </a:lnSpc>
              <a:spcAft>
                <a:spcPts val="960"/>
              </a:spcAft>
              <a:buClr>
                <a:srgbClr val="6B4FBB"/>
              </a:buClr>
              <a:buFont typeface="Arial"/>
              <a:buChar char="•"/>
            </a:pPr>
            <a:r>
              <a:rPr sz="2400" b="0" i="0">
                <a:solidFill>
                  <a:srgbClr val="23393A"/>
                </a:solidFill>
                <a:latin typeface="Arial"/>
              </a:rPr>
              <a:t>8 targetes de consulta</a:t>
            </a:r>
          </a:p>
          <a:p>
            <a:pPr marL="335280" indent="-335280">
              <a:lnSpc>
                <a:spcPct val="105000"/>
              </a:lnSpc>
              <a:spcAft>
                <a:spcPts val="960"/>
              </a:spcAft>
              <a:buClr>
                <a:srgbClr val="6B4FBB"/>
              </a:buClr>
              <a:buFont typeface="Arial"/>
              <a:buChar char="•"/>
            </a:pPr>
            <a:r>
              <a:rPr sz="2400" b="0" i="0">
                <a:solidFill>
                  <a:srgbClr val="23393A"/>
                </a:solidFill>
                <a:latin typeface="Arial"/>
              </a:rPr>
              <a:t>39 eines a la pantalla</a:t>
            </a:r>
          </a:p>
          <a:p>
            <a:pPr marL="335280" indent="-335280">
              <a:lnSpc>
                <a:spcPct val="105000"/>
              </a:lnSpc>
              <a:spcAft>
                <a:spcPts val="960"/>
              </a:spcAft>
              <a:buClr>
                <a:srgbClr val="6B4FBB"/>
              </a:buClr>
              <a:buFont typeface="Arial"/>
              <a:buChar char="•"/>
            </a:pPr>
            <a:r>
              <a:rPr sz="2400" b="0" i="0">
                <a:solidFill>
                  <a:srgbClr val="23393A"/>
                </a:solidFill>
                <a:latin typeface="Arial"/>
              </a:rPr>
              <a:t>14 exàmens adaptats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45720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 i="1">
                <a:solidFill>
                  <a:srgbClr val="666666"/>
                </a:solidFill>
                <a:latin typeface="Arial"/>
              </a:rPr>
              <a:t>Matemàtiques per a tothom</a:t>
            </a:r>
          </a:p>
        </p:txBody>
      </p:sp>
      <p:pic>
        <p:nvPicPr>
          <p:cNvPr id="3" name="Picture 2" descr="ab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110896"/>
            <a:ext cx="1143000" cy="500583"/>
          </a:xfrm>
          <a:prstGeom prst="rect">
            <a:avLst/>
          </a:prstGeom>
        </p:spPr>
      </p:pic>
      <p:pic>
        <p:nvPicPr>
          <p:cNvPr id="4" name="Picture 3" descr="figura-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4333460"/>
            <a:ext cx="868680" cy="60429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051560" y="731520"/>
            <a:ext cx="7818120" cy="4206240"/>
          </a:xfrm>
          <a:prstGeom prst="roundRect">
            <a:avLst>
              <a:gd name="adj" fmla="val 6000"/>
            </a:avLst>
          </a:prstGeom>
          <a:solidFill>
            <a:srgbClr val="EF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868680"/>
            <a:ext cx="7269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000000"/>
                </a:solidFill>
                <a:latin typeface="Arial"/>
              </a:rPr>
              <a:t>4 setmanes amb el docent dins del bucle: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463039"/>
            <a:ext cx="6537960" cy="3337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335280" indent="-335280">
              <a:lnSpc>
                <a:spcPct val="105000"/>
              </a:lnSpc>
              <a:spcAft>
                <a:spcPts val="960"/>
              </a:spcAft>
              <a:buClr>
                <a:srgbClr val="6B4FBB"/>
              </a:buClr>
              <a:buFont typeface="Arial"/>
              <a:buChar char="•"/>
            </a:pPr>
            <a:r>
              <a:rPr sz="2400" b="0" i="0">
                <a:solidFill>
                  <a:srgbClr val="23393A"/>
                </a:solidFill>
                <a:latin typeface="Arial"/>
              </a:rPr>
              <a:t>52 fitxes (14 de 4t i 38 de 1r)</a:t>
            </a:r>
          </a:p>
          <a:p>
            <a:pPr marL="335280" indent="-335280">
              <a:lnSpc>
                <a:spcPct val="105000"/>
              </a:lnSpc>
              <a:spcAft>
                <a:spcPts val="960"/>
              </a:spcAft>
              <a:buClr>
                <a:srgbClr val="6B4FBB"/>
              </a:buClr>
              <a:buFont typeface="Arial"/>
              <a:buChar char="•"/>
            </a:pPr>
            <a:r>
              <a:rPr sz="2400" b="0" i="0">
                <a:solidFill>
                  <a:srgbClr val="23393A"/>
                </a:solidFill>
                <a:latin typeface="Arial"/>
              </a:rPr>
              <a:t>8 targetes de consulta</a:t>
            </a:r>
          </a:p>
          <a:p>
            <a:pPr marL="335280" indent="-335280">
              <a:lnSpc>
                <a:spcPct val="105000"/>
              </a:lnSpc>
              <a:spcAft>
                <a:spcPts val="960"/>
              </a:spcAft>
              <a:buClr>
                <a:srgbClr val="6B4FBB"/>
              </a:buClr>
              <a:buFont typeface="Arial"/>
              <a:buChar char="•"/>
            </a:pPr>
            <a:r>
              <a:rPr sz="2400" b="0" i="0">
                <a:solidFill>
                  <a:srgbClr val="23393A"/>
                </a:solidFill>
                <a:latin typeface="Arial"/>
              </a:rPr>
              <a:t>39 eines a la pantalla</a:t>
            </a:r>
          </a:p>
          <a:p>
            <a:pPr marL="335280" indent="-335280">
              <a:lnSpc>
                <a:spcPct val="105000"/>
              </a:lnSpc>
              <a:spcAft>
                <a:spcPts val="960"/>
              </a:spcAft>
              <a:buClr>
                <a:srgbClr val="6B4FBB"/>
              </a:buClr>
              <a:buFont typeface="Arial"/>
              <a:buChar char="•"/>
            </a:pPr>
            <a:r>
              <a:rPr sz="2400" b="0" i="0">
                <a:solidFill>
                  <a:srgbClr val="23393A"/>
                </a:solidFill>
                <a:latin typeface="Arial"/>
              </a:rPr>
              <a:t>14 exàmens adaptats</a:t>
            </a:r>
          </a:p>
          <a:p>
            <a:pPr marL="0" indent="0">
              <a:lnSpc>
                <a:spcPct val="105000"/>
              </a:lnSpc>
              <a:spcAft>
                <a:spcPts val="960"/>
              </a:spcAft>
              <a:buNone/>
            </a:pPr>
            <a:r>
              <a:rPr sz="2400" b="1" i="0">
                <a:solidFill>
                  <a:srgbClr val="6B4FBB"/>
                </a:solidFill>
                <a:latin typeface="Arial"/>
              </a:rPr>
              <a:t>La IA no substitueix el docent.</a:t>
            </a:r>
          </a:p>
          <a:p>
            <a:pPr marL="0" indent="0">
              <a:lnSpc>
                <a:spcPct val="105000"/>
              </a:lnSpc>
              <a:spcAft>
                <a:spcPts val="960"/>
              </a:spcAft>
              <a:buNone/>
            </a:pPr>
            <a:r>
              <a:rPr sz="2400" b="1" i="0">
                <a:solidFill>
                  <a:srgbClr val="6B4FBB"/>
                </a:solidFill>
                <a:latin typeface="Arial"/>
              </a:rPr>
              <a:t>El docent fa que la IA serveixi.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